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None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None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LF-001</a:t>
            </a:r>
          </a:p>
          <a:p>
            <a:pPr/>
            <a:r>
              <a:rPr lang="en-US" dirty="0"/>
              <a:t>LF-002</a:t>
            </a:r>
          </a:p>
          <a:p>
            <a:pPr/>
            <a:r>
              <a:rPr lang="en-US" dirty="0"/>
              <a:t>LF-003</a:t>
            </a:r>
          </a:p>
          <a:p>
            <a:pPr/>
            <a:r>
              <a:rPr lang="en-US" dirty="0"/>
              <a:t>LF-004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source://risk_metrics/SGMR_consumption_combined_2025-07-01-2026-06-30.parquet#rows=9169:9169</a:t>
            </a:r>
          </a:p>
          <a:p>
            <a:pPr/>
            <a:r>
              <a:rPr lang="en-US" dirty="0"/>
              <a:t>source://risk_metrics/SGMR_consumption_combined_2025-07-01-2026-06-30.parquet#rows=9217:9217</a:t>
            </a:r>
          </a:p>
          <a:p>
            <a:pPr/>
            <a:r>
              <a:rPr lang="en-US" dirty="0"/>
              <a:t>source://risk_metrics/SGMR_consumption_combined_2025-07-01-2026-06-30.parquet#rows=9265:9265</a:t>
            </a:r>
          </a:p>
          <a:p>
            <a:pPr/>
            <a:r>
              <a:rPr lang="en-US" dirty="0"/>
              <a:t>source://risk_metrics/Filtered_Colibris_All_Maket_Excesses_with_llm_tags.csv#rows=42:42</a:t>
            </a:r>
          </a:p>
          <a:p>
            <a:pPr/>
            <a:r>
              <a:rPr lang="en-US" dirty="0"/>
              <a:t>source://risk_metrics/SGMR_consumption_combined_2025-07-01-2026-06-30.parquet#rows=9409:9409</a:t>
            </a:r>
          </a:p>
          <a:p>
            <a:pPr/>
            <a:r>
              <a:rPr lang="en-US" dirty="0"/>
              <a:t>source://risk_metrics/Filtered_Colibris_All_Maket_Excesses_with_llm_tags.csv#rows=32:32</a:t>
            </a:r>
          </a:p>
          <a:p>
            <a:pPr/>
            <a:r>
              <a:rPr lang="en-US" dirty="0"/>
              <a:t>source://risk_metrics/Filtered_Colibris_All_Maket_Excesses_with_llm_tags.csv#rows=44:44</a:t>
            </a:r>
          </a:p>
          <a:p>
            <a:pPr/>
            <a:r>
              <a:rPr lang="en-US" dirty="0"/>
              <a:t>source://risk_metrics/Filtered_Colibris_All_Maket_Excesses_with_llm_tags.csv#rows=2:2</a:t>
            </a:r>
          </a:p>
          <a:p>
            <a:pPr/>
            <a:r>
              <a:rPr lang="en-US" dirty="0"/>
              <a:t>source://risk_metrics/Filtered_Colibris_All_Maket_Excesses_with_llm_tags.csv#rows=6:6</a:t>
            </a:r>
          </a:p>
          <a:p>
            <a:pPr/>
            <a:r>
              <a:rPr lang="en-US" dirty="0"/>
              <a:t>source://risk_metrics/Filtered_Colibris_All_Maket_Excesses_with_llm_tags.csv#rows=7:7</a:t>
            </a:r>
          </a:p>
          <a:p>
            <a:pPr/>
            <a:r>
              <a:rPr lang="en-US" dirty="0"/>
              <a:t>source://risk_metrics/Filtered_Colibris_All_Maket_Excesses_with_llm_tags.csv#rows=12:12</a:t>
            </a:r>
          </a:p>
          <a:p>
            <a:pPr/>
            <a:r>
              <a:rPr lang="en-US" dirty="0"/>
              <a:t>source://risk_metrics/Filtered_Colibris_All_Maket_Excesses_with_llm_tags.csv#rows=10:10</a:t>
            </a:r>
          </a:p>
          <a:p>
            <a:pPr/>
            <a:r>
              <a:rPr lang="en-US" dirty="0"/>
              <a:t>source://risk_metrics/SGMR_consumption_combined_2025-07-01-2026-06-30.parquet#rows=1:1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LF-001</a:t>
            </a:r>
          </a:p>
          <a:p>
            <a:pPr/>
            <a:r>
              <a:rPr lang="en-US" dirty="0"/>
              <a:t>LF-002</a:t>
            </a:r>
          </a:p>
          <a:p>
            <a:pPr/>
            <a:r>
              <a:rPr lang="en-US" dirty="0"/>
              <a:t>LF-003</a:t>
            </a:r>
          </a:p>
          <a:p>
            <a:pPr/>
            <a:r>
              <a:rPr lang="en-US" dirty="0"/>
              <a:t>LF-004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source://risk_metrics/SGMR_consumption_combined_2025-07-01-2026-06-30.parquet#rows=9169:9169</a:t>
            </a:r>
          </a:p>
          <a:p>
            <a:pPr/>
            <a:r>
              <a:rPr lang="en-US" dirty="0"/>
              <a:t>source://risk_metrics/SGMR_consumption_combined_2025-07-01-2026-06-30.parquet#rows=9217:9217</a:t>
            </a:r>
          </a:p>
          <a:p>
            <a:pPr/>
            <a:r>
              <a:rPr lang="en-US" dirty="0"/>
              <a:t>source://risk_metrics/SGMR_consumption_combined_2025-07-01-2026-06-30.parquet#rows=9265:9265</a:t>
            </a:r>
          </a:p>
          <a:p>
            <a:pPr/>
            <a:r>
              <a:rPr lang="en-US" dirty="0"/>
              <a:t>source://risk_metrics/Filtered_Colibris_All_Maket_Excesses_with_llm_tags.csv#rows=42:42</a:t>
            </a:r>
          </a:p>
          <a:p>
            <a:pPr/>
            <a:r>
              <a:rPr lang="en-US" dirty="0"/>
              <a:t>source://risk_metrics/SGMR_consumption_combined_2025-07-01-2026-06-30.parquet#rows=9409:9409</a:t>
            </a:r>
          </a:p>
          <a:p>
            <a:pPr/>
            <a:r>
              <a:rPr lang="en-US" dirty="0"/>
              <a:t>source://risk_metrics/Filtered_Colibris_All_Maket_Excesses_with_llm_tags.csv#rows=32:32</a:t>
            </a:r>
          </a:p>
          <a:p>
            <a:pPr/>
            <a:r>
              <a:rPr lang="en-US" dirty="0"/>
              <a:t>source://risk_metrics/Filtered_Colibris_All_Maket_Excesses_with_llm_tags.csv#rows=44:44</a:t>
            </a:r>
          </a:p>
          <a:p>
            <a:pPr/>
            <a:r>
              <a:rPr lang="en-US" dirty="0"/>
              <a:t>source://risk_metrics/Filtered_Colibris_All_Maket_Excesses_with_llm_tags.csv#rows=2:2</a:t>
            </a:r>
          </a:p>
          <a:p>
            <a:pPr/>
            <a:r>
              <a:rPr lang="en-US" dirty="0"/>
              <a:t>source://risk_metrics/Filtered_Colibris_All_Maket_Excesses_with_llm_tags.csv#rows=6:6</a:t>
            </a:r>
          </a:p>
          <a:p>
            <a:pPr/>
            <a:r>
              <a:rPr lang="en-US" dirty="0"/>
              <a:t>source://risk_metrics/Filtered_Colibris_All_Maket_Excesses_with_llm_tags.csv#rows=7:7</a:t>
            </a:r>
          </a:p>
          <a:p>
            <a:pPr/>
            <a:r>
              <a:rPr lang="en-US" dirty="0"/>
              <a:t>source://risk_metrics/Filtered_Colibris_All_Maket_Excesses_with_llm_tags.csv#rows=12:12</a:t>
            </a:r>
          </a:p>
          <a:p>
            <a:pPr/>
            <a:r>
              <a:rPr lang="en-US" dirty="0"/>
              <a:t>source://risk_metrics/Filtered_Colibris_All_Maket_Excesses_with_llm_tags.csv#rows=10:10</a:t>
            </a:r>
          </a:p>
          <a:p>
            <a:pPr/>
            <a:r>
              <a:rPr lang="en-US" dirty="0"/>
              <a:t>source://risk_metrics/SGMR_consumption_combined_2025-07-01-2026-06-30.parquet#rows=1:1</a:t>
            </a:r>
          </a:p>
          <a:p>
            <a:pPr/>
            <a:r>
              <a:rPr lang="en-US" dirty="0"/>
              <a:t>source://risk_metrics/SGMR_consumption_combined_2025-07-01-2026-06-30.parquet#rows=1:12481</a:t>
            </a:r>
          </a:p>
          <a:p>
            <a:pPr/>
            <a:endParaRPr lang="en-US" dirty="0"/>
          </a:p>
          <a:p>
            <a:pPr/>
            <a:r>
              <a:rPr lang="en-US" dirty="0"/>
              <a:t>OVERVIEW ID</a:t>
            </a:r>
          </a:p>
          <a:p>
            <a:pPr/>
            <a:r>
              <a:rPr lang="en-US" dirty="0"/>
              <a:t>risk-metrics.limit-utilization</a:t>
            </a:r>
          </a:p>
          <a:p>
            <a:pPr/>
            <a:r>
              <a:rPr lang="en-US" dirty="0"/>
              <a:t>OVERVIEW DATA FINGERPRINT</a:t>
            </a:r>
          </a:p>
          <a:p>
            <a:pPr/>
            <a:r>
              <a:rPr lang="en-US" dirty="0"/>
              <a:t>2997143ce4d5410d79f1b693700d6cf0aeb05b264f82759037d8c451e16bdc0b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LF-005</a:t>
            </a:r>
          </a:p>
          <a:p>
            <a:pPr/>
            <a:r>
              <a:rPr lang="en-US" dirty="0"/>
              <a:t>LF-006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source://pnl/pnl_adjustment_2025-07-01-2026-06-30.csv#rows=9:9</a:t>
            </a:r>
          </a:p>
          <a:p>
            <a:pPr/>
            <a:r>
              <a:rPr lang="en-US" dirty="0"/>
              <a:t>source://pnl/pnl_adjustment_2025-07-01-2026-06-30.csv#rows=9:12</a:t>
            </a:r>
          </a:p>
          <a:p>
            <a:pPr/>
            <a:r>
              <a:rPr lang="en-US" dirty="0"/>
              <a:t>source://pnl/pnl_adjustment_2025-07-01-2026-06-30.csv#rows=16:18</a:t>
            </a:r>
          </a:p>
          <a:p>
            <a:pPr/>
            <a:r>
              <a:rPr lang="en-US" dirty="0"/>
              <a:t>source://pnl/pnl_adjustment_2025-07-01-2026-06-30.csv#rows=22:25</a:t>
            </a:r>
          </a:p>
          <a:p>
            <a:pPr/>
            <a:r>
              <a:rPr lang="en-US" dirty="0"/>
              <a:t>source://pnl/pnl_adjustment_2025-07-01-2026-06-30.csv#rows=2:25</a:t>
            </a:r>
          </a:p>
          <a:p>
            <a:pPr/>
            <a:endParaRPr lang="en-US" dirty="0"/>
          </a:p>
          <a:p>
            <a:pPr/>
            <a:r>
              <a:rPr lang="en-US" dirty="0"/>
              <a:t>OVERVIEW ID</a:t>
            </a:r>
          </a:p>
          <a:p>
            <a:pPr/>
            <a:r>
              <a:rPr lang="en-US" dirty="0"/>
              <a:t>pnl.adjustment-profile</a:t>
            </a:r>
          </a:p>
          <a:p>
            <a:pPr/>
            <a:r>
              <a:rPr lang="en-US" dirty="0"/>
              <a:t>OVERVIEW DATA FINGERPRINT</a:t>
            </a:r>
          </a:p>
          <a:p>
            <a:pPr/>
            <a:r>
              <a:rPr lang="en-US" dirty="0"/>
              <a:t>fc1980783429d26f26671f156f30e3279d863a1a590a4c57d97a69851371805a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None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source://post_trade_controls/breaches.csv#rows=2:15</a:t>
            </a:r>
          </a:p>
          <a:p>
            <a:pPr/>
            <a:endParaRPr lang="en-US" dirty="0"/>
          </a:p>
          <a:p>
            <a:pPr/>
            <a:r>
              <a:rPr lang="en-US" dirty="0"/>
              <a:t>OVERVIEW ID</a:t>
            </a:r>
          </a:p>
          <a:p>
            <a:pPr/>
            <a:r>
              <a:rPr lang="en-US" dirty="0"/>
              <a:t>post-trade-controls.breaches-over-time</a:t>
            </a:r>
          </a:p>
          <a:p>
            <a:pPr/>
            <a:r>
              <a:rPr lang="en-US" dirty="0"/>
              <a:t>OVERVIEW DATA FINGERPRINT</a:t>
            </a:r>
          </a:p>
          <a:p>
            <a:pPr/>
            <a:r>
              <a:rPr lang="en-US" dirty="0"/>
              <a:t>bde2783752c456c843d34e64b80dcb60d6603bcf0ed88345f058b62083deb506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LF-008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source://risk_commentary/quarterly_reviews_summary_var_svar_comment.md#lines=269:269</a:t>
            </a:r>
          </a:p>
          <a:p>
            <a:pPr/>
            <a:r>
              <a:rPr lang="en-US" dirty="0"/>
              <a:t>source://risk_metrics/SGMR_consumption_combined_2025-07-01-2026-06-30.parquet#rows=9265:9265</a:t>
            </a:r>
          </a:p>
          <a:p>
            <a:pPr/>
            <a:r>
              <a:rPr lang="en-US" dirty="0"/>
              <a:t>source://risk_metrics/SGMR_consumption_combined_2025-07-01-2026-06-30.parquet#rows=9169:9169</a:t>
            </a:r>
          </a:p>
          <a:p>
            <a:pPr/>
            <a:r>
              <a:rPr lang="en-US" dirty="0"/>
              <a:t>source://risk_metrics/SGMR_consumption_combined_2025-07-01-2026-06-30.parquet#rows=9217:9217</a:t>
            </a:r>
          </a:p>
          <a:p>
            <a:pPr/>
            <a:r>
              <a:rPr lang="en-US" dirty="0"/>
              <a:t>source://desk_context/desk_background.md#lines=1:19</a:t>
            </a:r>
          </a:p>
          <a:p>
            <a:pPr/>
            <a:r>
              <a:rPr lang="en-US" dirty="0"/>
              <a:t>source://risk_commentary/quarterly_reviews_summary_ia_comment.md#lines=1:370</a:t>
            </a:r>
          </a:p>
          <a:p>
            <a:pPr/>
            <a:r>
              <a:rPr lang="en-US" dirty="0"/>
              <a:t>source://risk_commentary/quarterly_reviews_summary_pnl_comment.md#lines=1:370</a:t>
            </a:r>
          </a:p>
          <a:p>
            <a:pPr/>
            <a:r>
              <a:rPr lang="en-US" dirty="0"/>
              <a:t>source://risk_commentary/quarterly_reviews_summary_risk_metrics_comment.md#lines=1:370</a:t>
            </a:r>
          </a:p>
          <a:p>
            <a:pPr/>
            <a:r>
              <a:rPr lang="en-US" dirty="0"/>
              <a:t>source://risk_commentary/quarterly_reviews_summary_stress_test_comment.md#lines=1:370</a:t>
            </a:r>
          </a:p>
          <a:p>
            <a:pPr/>
            <a:r>
              <a:rPr lang="en-US" dirty="0"/>
              <a:t>source://risk_commentary/quarterly_reviews_summary_var_svar_comment.md#lines=1:376</a:t>
            </a:r>
          </a:p>
          <a:p>
            <a:pPr/>
            <a:endParaRPr lang="en-US" dirty="0"/>
          </a:p>
          <a:p>
            <a:pPr/>
            <a:r>
              <a:rPr lang="en-US" dirty="0"/>
              <a:t>OVERVIEW ID</a:t>
            </a:r>
          </a:p>
          <a:p>
            <a:pPr/>
            <a:r>
              <a:rPr lang="en-US" dirty="0"/>
              <a:t>risk-commentary.extract-coverage</a:t>
            </a:r>
          </a:p>
          <a:p>
            <a:pPr/>
            <a:r>
              <a:rPr lang="en-US" dirty="0"/>
              <a:t>OVERVIEW DATA FINGERPRINT</a:t>
            </a:r>
          </a:p>
          <a:p>
            <a:pPr/>
            <a:r>
              <a:rPr lang="en-US" dirty="0"/>
              <a:t>a702bf507130cb819f65f96aa6a6f66cdd31cfca7933d23f26a22997bd0685ca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LF-001</a:t>
            </a:r>
          </a:p>
          <a:p>
            <a:pPr/>
            <a:r>
              <a:rPr lang="en-US" dirty="0"/>
              <a:t>LF-002</a:t>
            </a:r>
          </a:p>
          <a:p>
            <a:pPr/>
            <a:r>
              <a:rPr lang="en-US" dirty="0"/>
              <a:t>LF-003</a:t>
            </a:r>
          </a:p>
          <a:p>
            <a:pPr/>
            <a:r>
              <a:rPr lang="en-US" dirty="0"/>
              <a:t>LF-004</a:t>
            </a:r>
          </a:p>
          <a:p>
            <a:pPr/>
            <a:r>
              <a:rPr lang="en-US" dirty="0"/>
              <a:t>LF-005</a:t>
            </a:r>
          </a:p>
          <a:p>
            <a:pPr/>
            <a:r>
              <a:rPr lang="en-US" dirty="0"/>
              <a:t>LF-006</a:t>
            </a:r>
          </a:p>
          <a:p>
            <a:pPr/>
            <a:r>
              <a:rPr lang="en-US" dirty="0"/>
              <a:t>LF-008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source://risk_metrics/SGMR_consumption_combined_2025-07-01-2026-06-30.parquet#rows=9169:9169</a:t>
            </a:r>
          </a:p>
          <a:p>
            <a:pPr/>
            <a:r>
              <a:rPr lang="en-US" dirty="0"/>
              <a:t>source://risk_metrics/SGMR_consumption_combined_2025-07-01-2026-06-30.parquet#rows=9217:9217</a:t>
            </a:r>
          </a:p>
          <a:p>
            <a:pPr/>
            <a:r>
              <a:rPr lang="en-US" dirty="0"/>
              <a:t>source://risk_metrics/SGMR_consumption_combined_2025-07-01-2026-06-30.parquet#rows=9265:9265</a:t>
            </a:r>
          </a:p>
          <a:p>
            <a:pPr/>
            <a:r>
              <a:rPr lang="en-US" dirty="0"/>
              <a:t>source://risk_metrics/Filtered_Colibris_All_Maket_Excesses_with_llm_tags.csv#rows=42:42</a:t>
            </a:r>
          </a:p>
          <a:p>
            <a:pPr/>
            <a:r>
              <a:rPr lang="en-US" dirty="0"/>
              <a:t>source://risk_metrics/SGMR_consumption_combined_2025-07-01-2026-06-30.parquet#rows=9409:9409</a:t>
            </a:r>
          </a:p>
          <a:p>
            <a:pPr/>
            <a:r>
              <a:rPr lang="en-US" dirty="0"/>
              <a:t>source://risk_metrics/Filtered_Colibris_All_Maket_Excesses_with_llm_tags.csv#rows=32:32</a:t>
            </a:r>
          </a:p>
          <a:p>
            <a:pPr/>
            <a:r>
              <a:rPr lang="en-US" dirty="0"/>
              <a:t>source://risk_metrics/Filtered_Colibris_All_Maket_Excesses_with_llm_tags.csv#rows=44:44</a:t>
            </a:r>
          </a:p>
          <a:p>
            <a:pPr/>
            <a:r>
              <a:rPr lang="en-US" dirty="0"/>
              <a:t>source://risk_metrics/Filtered_Colibris_All_Maket_Excesses_with_llm_tags.csv#rows=2:2</a:t>
            </a:r>
          </a:p>
          <a:p>
            <a:pPr/>
            <a:r>
              <a:rPr lang="en-US" dirty="0"/>
              <a:t>source://risk_metrics/Filtered_Colibris_All_Maket_Excesses_with_llm_tags.csv#rows=6:6</a:t>
            </a:r>
          </a:p>
          <a:p>
            <a:pPr/>
            <a:r>
              <a:rPr lang="en-US" dirty="0"/>
              <a:t>source://risk_metrics/Filtered_Colibris_All_Maket_Excesses_with_llm_tags.csv#rows=7:7</a:t>
            </a:r>
          </a:p>
          <a:p>
            <a:pPr/>
            <a:r>
              <a:rPr lang="en-US" dirty="0"/>
              <a:t>source://risk_metrics/Filtered_Colibris_All_Maket_Excesses_with_llm_tags.csv#rows=12:12</a:t>
            </a:r>
          </a:p>
          <a:p>
            <a:pPr/>
            <a:r>
              <a:rPr lang="en-US" dirty="0"/>
              <a:t>source://risk_metrics/Filtered_Colibris_All_Maket_Excesses_with_llm_tags.csv#rows=10:10</a:t>
            </a:r>
          </a:p>
          <a:p>
            <a:pPr/>
            <a:r>
              <a:rPr lang="en-US" dirty="0"/>
              <a:t>source://risk_metrics/SGMR_consumption_combined_2025-07-01-2026-06-30.parquet#rows=1:1</a:t>
            </a:r>
          </a:p>
          <a:p>
            <a:pPr/>
            <a:r>
              <a:rPr lang="en-US" dirty="0"/>
              <a:t>source://pnl/pnl_adjustment_2025-07-01-2026-06-30.csv#rows=9:9</a:t>
            </a:r>
          </a:p>
          <a:p>
            <a:pPr/>
            <a:r>
              <a:rPr lang="en-US" dirty="0"/>
              <a:t>source://pnl/pnl_adjustment_2025-07-01-2026-06-30.csv#rows=9:12</a:t>
            </a:r>
          </a:p>
          <a:p>
            <a:pPr/>
            <a:r>
              <a:rPr lang="en-US" dirty="0"/>
              <a:t>source://pnl/pnl_adjustment_2025-07-01-2026-06-30.csv#rows=16:18</a:t>
            </a:r>
          </a:p>
          <a:p>
            <a:pPr/>
            <a:r>
              <a:rPr lang="en-US" dirty="0"/>
              <a:t>source://pnl/pnl_adjustment_2025-07-01-2026-06-30.csv#rows=22:25</a:t>
            </a:r>
          </a:p>
          <a:p>
            <a:pPr/>
            <a:r>
              <a:rPr lang="en-US" dirty="0"/>
              <a:t>source://risk_commentary/quarterly_reviews_summary_var_svar_comment.md#lines=269:269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APPROVED FINDING IDS</a:t>
            </a:r>
          </a:p>
          <a:p>
            <a:pPr/>
            <a:r>
              <a:rPr lang="en-US" dirty="0"/>
              <a:t>LF-001</a:t>
            </a:r>
          </a:p>
          <a:p>
            <a:pPr/>
            <a:r>
              <a:rPr lang="en-US" dirty="0"/>
              <a:t>LF-002</a:t>
            </a:r>
          </a:p>
          <a:p>
            <a:pPr/>
            <a:r>
              <a:rPr lang="en-US" dirty="0"/>
              <a:t>LF-003</a:t>
            </a:r>
          </a:p>
          <a:p>
            <a:pPr/>
            <a:r>
              <a:rPr lang="en-US" dirty="0"/>
              <a:t>LF-004</a:t>
            </a:r>
          </a:p>
          <a:p>
            <a:pPr/>
            <a:r>
              <a:rPr lang="en-US" dirty="0"/>
              <a:t>LF-005</a:t>
            </a:r>
          </a:p>
          <a:p>
            <a:pPr/>
            <a:r>
              <a:rPr lang="en-US" dirty="0"/>
              <a:t>LF-008</a:t>
            </a:r>
          </a:p>
          <a:p>
            <a:pPr/>
            <a:endParaRPr lang="en-US" dirty="0"/>
          </a:p>
          <a:p>
            <a:pPr/>
            <a:r>
              <a:rPr lang="en-US" dirty="0"/>
              <a:t>APPROVED SOURCE LOCATORS</a:t>
            </a:r>
          </a:p>
          <a:p>
            <a:pPr/>
            <a:r>
              <a:rPr lang="en-US" dirty="0"/>
              <a:t>source://risk_metrics/SGMR_consumption_combined_2025-07-01-2026-06-30.parquet#rows=9169:9169</a:t>
            </a:r>
          </a:p>
          <a:p>
            <a:pPr/>
            <a:r>
              <a:rPr lang="en-US" dirty="0"/>
              <a:t>source://risk_metrics/SGMR_consumption_combined_2025-07-01-2026-06-30.parquet#rows=9217:9217</a:t>
            </a:r>
          </a:p>
          <a:p>
            <a:pPr/>
            <a:r>
              <a:rPr lang="en-US" dirty="0"/>
              <a:t>source://risk_metrics/SGMR_consumption_combined_2025-07-01-2026-06-30.parquet#rows=9265:9265</a:t>
            </a:r>
          </a:p>
          <a:p>
            <a:pPr/>
            <a:r>
              <a:rPr lang="en-US" dirty="0"/>
              <a:t>source://risk_metrics/Filtered_Colibris_All_Maket_Excesses_with_llm_tags.csv#rows=42:42</a:t>
            </a:r>
          </a:p>
          <a:p>
            <a:pPr/>
            <a:r>
              <a:rPr lang="en-US" dirty="0"/>
              <a:t>source://risk_metrics/SGMR_consumption_combined_2025-07-01-2026-06-30.parquet#rows=9409:9409</a:t>
            </a:r>
          </a:p>
          <a:p>
            <a:pPr/>
            <a:r>
              <a:rPr lang="en-US" dirty="0"/>
              <a:t>source://risk_metrics/Filtered_Colibris_All_Maket_Excesses_with_llm_tags.csv#rows=32:32</a:t>
            </a:r>
          </a:p>
          <a:p>
            <a:pPr/>
            <a:r>
              <a:rPr lang="en-US" dirty="0"/>
              <a:t>source://risk_metrics/Filtered_Colibris_All_Maket_Excesses_with_llm_tags.csv#rows=44:44</a:t>
            </a:r>
          </a:p>
          <a:p>
            <a:pPr/>
            <a:r>
              <a:rPr lang="en-US" dirty="0"/>
              <a:t>source://risk_metrics/Filtered_Colibris_All_Maket_Excesses_with_llm_tags.csv#rows=2:2</a:t>
            </a:r>
          </a:p>
          <a:p>
            <a:pPr/>
            <a:r>
              <a:rPr lang="en-US" dirty="0"/>
              <a:t>source://risk_metrics/Filtered_Colibris_All_Maket_Excesses_with_llm_tags.csv#rows=6:6</a:t>
            </a:r>
          </a:p>
          <a:p>
            <a:pPr/>
            <a:r>
              <a:rPr lang="en-US" dirty="0"/>
              <a:t>source://risk_metrics/Filtered_Colibris_All_Maket_Excesses_with_llm_tags.csv#rows=7:7</a:t>
            </a:r>
          </a:p>
          <a:p>
            <a:pPr/>
            <a:r>
              <a:rPr lang="en-US" dirty="0"/>
              <a:t>source://risk_metrics/Filtered_Colibris_All_Maket_Excesses_with_llm_tags.csv#rows=12:12</a:t>
            </a:r>
          </a:p>
          <a:p>
            <a:pPr/>
            <a:r>
              <a:rPr lang="en-US" dirty="0"/>
              <a:t>source://risk_metrics/Filtered_Colibris_All_Maket_Excesses_with_llm_tags.csv#rows=10:10</a:t>
            </a:r>
          </a:p>
          <a:p>
            <a:pPr/>
            <a:r>
              <a:rPr lang="en-US" dirty="0"/>
              <a:t>source://risk_metrics/SGMR_consumption_combined_2025-07-01-2026-06-30.parquet#rows=1:1</a:t>
            </a:r>
          </a:p>
          <a:p>
            <a:pPr/>
            <a:r>
              <a:rPr lang="en-US" dirty="0"/>
              <a:t>source://pnl/pnl_adjustment_2025-07-01-2026-06-30.csv#rows=9:9</a:t>
            </a:r>
          </a:p>
          <a:p>
            <a:pPr/>
            <a:r>
              <a:rPr lang="en-US" dirty="0"/>
              <a:t>source://pnl/pnl_adjustment_2025-07-01-2026-06-30.csv#rows=9:12</a:t>
            </a:r>
          </a:p>
          <a:p>
            <a:pPr/>
            <a:r>
              <a:rPr lang="en-US" dirty="0"/>
              <a:t>source://pnl/pnl_adjustment_2025-07-01-2026-06-30.csv#rows=16:18</a:t>
            </a:r>
          </a:p>
          <a:p>
            <a:pPr/>
            <a:r>
              <a:rPr lang="en-US" dirty="0"/>
              <a:t>source://pnl/pnl_adjustment_2025-07-01-2026-06-30.csv#rows=22:25</a:t>
            </a:r>
          </a:p>
          <a:p>
            <a:pPr/>
            <a:r>
              <a:rPr lang="en-US" dirty="0"/>
              <a:t>source://risk_commentary/quarterly_reviews_summary_var_svar_comment.md#lines=269:269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isk 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isk 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38250" cy="685800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38250" y="0"/>
              <a:ext cx="114300" cy="68580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47850" y="1655445"/>
            <a:ext cx="6484529" cy="1535430"/>
            <a:chOff x="1847850" y="1655445"/>
            <a:chExt cx="6484529" cy="1535430"/>
          </a:xfrm>
        </p:grpSpPr>
        <p:sp>
          <p:nvSpPr>
            <p:cNvPr id="6" name="TextBox 6"/>
            <p:cNvSpPr txBox="1"/>
            <p:nvPr/>
          </p:nvSpPr>
          <p:spPr>
            <a:xfrm>
              <a:off x="1847850" y="1655445"/>
              <a:ext cx="648452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866900" y="31813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76200">
              <a:solidFill>
                <a:srgbClr val="E6002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848606" y="3691890"/>
            <a:ext cx="4107790" cy="950785"/>
            <a:chOff x="4848606" y="3691890"/>
            <a:chExt cx="4107790" cy="950785"/>
          </a:xfrm>
        </p:grpSpPr>
        <p:sp>
          <p:nvSpPr>
            <p:cNvPr id="9" name="TextBox 9"/>
            <p:cNvSpPr txBox="1"/>
            <p:nvPr/>
          </p:nvSpPr>
          <p:spPr>
            <a:xfrm>
              <a:off x="4848606" y="3691890"/>
              <a:ext cx="410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Cross-Asset Market Making Desk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50892" y="4378642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2025-07-01 to 2026-06-30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66900" y="6400800"/>
            <a:ext cx="1855187" cy="247364"/>
            <a:chOff x="1866900" y="6400800"/>
            <a:chExt cx="1855187" cy="247364"/>
          </a:xfrm>
        </p:grpSpPr>
        <p:sp>
          <p:nvSpPr>
            <p:cNvPr id="12" name="Rectangle 12"/>
            <p:cNvSpPr/>
            <p:nvPr/>
          </p:nvSpPr>
          <p:spPr>
            <a:xfrm>
              <a:off x="1866900" y="6400800"/>
              <a:ext cx="57150" cy="2095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14347" y="6457474"/>
              <a:ext cx="1707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390954" cy="1221199"/>
            <a:chOff x="444246" y="485299"/>
            <a:chExt cx="8390954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1619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RISK GOVERNANCE ALERT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390954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Material VaR limit breach and governance concerns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require immediate follow-up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809750"/>
            <a:ext cx="4000500" cy="3905250"/>
            <a:chOff x="457200" y="1809750"/>
            <a:chExt cx="4000500" cy="3905250"/>
          </a:xfrm>
        </p:grpSpPr>
        <p:sp>
          <p:nvSpPr>
            <p:cNvPr id="11" name="Rectangle 11"/>
            <p:cNvSpPr/>
            <p:nvPr/>
          </p:nvSpPr>
          <p:spPr>
            <a:xfrm>
              <a:off x="457200" y="1809750"/>
              <a:ext cx="4000500" cy="39052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137" y="2156936"/>
              <a:ext cx="3308871" cy="1140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7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VaR breach on MOCK_PC_FLOW</a:t>
              </a:r>
              <a:br/>
              <a:r>
                <a:rPr lang="en-US" sz="17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followed by limit increase</a:t>
              </a:r>
              <a:br/>
              <a:r>
                <a:rPr lang="en-US" sz="17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effective before approvals;</a:t>
              </a:r>
              <a:br/>
              <a:r>
                <a:rPr lang="en-US" sz="17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recurring excess events and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23900" y="3905250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9525">
              <a:solidFill>
                <a:srgbClr val="51547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8947" y="4142899"/>
              <a:ext cx="1085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WHY IT MATTERS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423" y="4453414"/>
              <a:ext cx="2768346" cy="643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52"/>
                </a:lnSpc>
              </a:pPr>
              <a:r>
                <a:rPr lang="en-US" sz="128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No direct evidence of unauthorized</a:t>
              </a:r>
              <a:br/>
              <a:r>
                <a:rPr lang="en-US" sz="128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activity; data gaps limit full</a:t>
              </a:r>
              <a:br/>
              <a:r>
                <a:rPr lang="en-US" sz="128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reconciliation.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57750" y="1809750"/>
            <a:ext cx="6877050" cy="3619500"/>
            <a:chOff x="4857750" y="1809750"/>
            <a:chExt cx="6877050" cy="3619500"/>
          </a:xfrm>
        </p:grpSpPr>
        <p:sp>
          <p:nvSpPr>
            <p:cNvPr id="17" name="Rectangle 17"/>
            <p:cNvSpPr/>
            <p:nvPr/>
          </p:nvSpPr>
          <p:spPr>
            <a:xfrm>
              <a:off x="4857750" y="1809750"/>
              <a:ext cx="6877050" cy="10668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857750" y="1809750"/>
              <a:ext cx="76200" cy="10668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38738" y="1979295"/>
              <a:ext cx="7555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LF-001 HIGH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6642" y="2216468"/>
              <a:ext cx="5783437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VaR limit breach on MOCK_PC_FLOW with subsequent limit increase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effective before approval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857750" y="3086100"/>
              <a:ext cx="6877050" cy="10668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3086100"/>
              <a:ext cx="76200" cy="1066800"/>
            </a:xfrm>
            <a:prstGeom prst="rect">
              <a:avLst/>
            </a:prstGeom>
            <a:solidFill>
              <a:srgbClr val="D990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38738" y="3255645"/>
              <a:ext cx="957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D99000"/>
                  </a:solidFill>
                  <a:latin typeface="Arial"/>
                  <a:ea typeface="Arial"/>
                  <a:cs typeface="Arial"/>
                </a:rPr>
                <a:t>LF-002 MEDIUM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6642" y="3492818"/>
              <a:ext cx="5998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Recurring VaR excess events on MOCK_PC_FLOW with open items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57750" y="4362450"/>
              <a:ext cx="6877050" cy="10668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57750" y="4362450"/>
              <a:ext cx="76200" cy="1066800"/>
            </a:xfrm>
            <a:prstGeom prst="rect">
              <a:avLst/>
            </a:prstGeom>
            <a:solidFill>
              <a:srgbClr val="6B6B7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38738" y="4531995"/>
              <a:ext cx="768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LF-003 LOW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36642" y="4769168"/>
              <a:ext cx="4624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Data inconsistencies in Colibris workflow records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71738" y="6167438"/>
            <a:ext cx="21712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LF-001, LF-002, LF-003, LF-004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7472839" cy="1221199"/>
            <a:chOff x="444246" y="485299"/>
            <a:chExt cx="7472839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1180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VAR LIMIT BREACH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7472839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VaR limit breach and recurring excess events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indicate limit framework misalignment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1695450"/>
            <a:ext cx="3333750" cy="4019550"/>
            <a:chOff x="457200" y="1695450"/>
            <a:chExt cx="3333750" cy="4019550"/>
          </a:xfrm>
        </p:grpSpPr>
        <p:sp>
          <p:nvSpPr>
            <p:cNvPr id="11" name="Rectangle 11"/>
            <p:cNvSpPr/>
            <p:nvPr/>
          </p:nvSpPr>
          <p:spPr>
            <a:xfrm>
              <a:off x="457200" y="1695450"/>
              <a:ext cx="3333750" cy="40195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695450"/>
              <a:ext cx="3333750" cy="552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1933099"/>
              <a:ext cx="1422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REVIEW COMMENTARY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2675573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VaR breached three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consecutive days; limit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increase effective before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approvals; 9 excess events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8481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5154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038" y="4074795"/>
              <a:ext cx="997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WHY IT MATTERS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" y="4366260"/>
              <a:ext cx="2366772" cy="606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Misaligned limits and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governance gaps undermine risk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control, requiring immediate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5225891"/>
              <a:ext cx="1868424" cy="417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05"/>
                </a:lnSpc>
              </a:pPr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Utilization uses recorded directional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bound; position direction not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established.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695450"/>
            <a:ext cx="7086600" cy="781050"/>
            <a:chOff x="4248150" y="1695450"/>
            <a:chExt cx="7086600" cy="781050"/>
          </a:xfrm>
        </p:grpSpPr>
        <p:sp>
          <p:nvSpPr>
            <p:cNvPr id="20" name="Rectangle 20"/>
            <p:cNvSpPr/>
            <p:nvPr/>
          </p:nvSpPr>
          <p:spPr>
            <a:xfrm>
              <a:off x="42481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76738" y="1833562"/>
              <a:ext cx="1090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CURRENT UTILIZATION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2356" y="2044065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43.1%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579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6488" y="1833562"/>
              <a:ext cx="10120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WORST UTILIZATION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2106" y="2044065"/>
              <a:ext cx="908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107.9%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676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96238" y="1833562"/>
              <a:ext cx="84402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P95 UTILIZATION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044065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61.2%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6774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05988" y="1833562"/>
              <a:ext cx="11688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BREACH OBSERVATIONS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1606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71988" y="2876550"/>
            <a:ext cx="6772274" cy="2676526"/>
            <a:chOff x="4471988" y="2876550"/>
            <a:chExt cx="6772274" cy="2676526"/>
          </a:xfrm>
        </p:grpSpPr>
        <p:sp>
          <p:nvSpPr>
            <p:cNvPr id="33" name="Line 33"/>
            <p:cNvSpPr/>
            <p:nvPr/>
          </p:nvSpPr>
          <p:spPr>
            <a:xfrm>
              <a:off x="4476750" y="5257800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76750" y="28765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476750" y="3471862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476750" y="406717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476750" y="4662488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8" name="Polyline 38"/>
            <p:cNvSpPr/>
            <p:nvPr/>
          </p:nvSpPr>
          <p:spPr>
            <a:xfrm>
              <a:off x="4476750" y="2876550"/>
              <a:ext cx="6762750" cy="1463040"/>
            </a:xfrm>
            <a:custGeom>
              <a:avLst/>
              <a:gdLst/>
              <a:ahLst/>
              <a:cxnLst/>
              <a:rect l="l" t="t" r="r" b="b"/>
              <a:pathLst>
                <a:path w="6762750" h="1463040">
                  <a:moveTo>
                    <a:pt x="0" y="1160145"/>
                  </a:moveTo>
                  <a:lnTo>
                    <a:pt x="78105" y="1087755"/>
                  </a:lnTo>
                  <a:lnTo>
                    <a:pt x="155258" y="1006792"/>
                  </a:lnTo>
                  <a:lnTo>
                    <a:pt x="233362" y="1143953"/>
                  </a:lnTo>
                  <a:lnTo>
                    <a:pt x="310515" y="1073468"/>
                  </a:lnTo>
                  <a:lnTo>
                    <a:pt x="388620" y="1181100"/>
                  </a:lnTo>
                  <a:lnTo>
                    <a:pt x="466725" y="1077278"/>
                  </a:lnTo>
                  <a:lnTo>
                    <a:pt x="543878" y="1167765"/>
                  </a:lnTo>
                  <a:lnTo>
                    <a:pt x="621982" y="1104900"/>
                  </a:lnTo>
                  <a:lnTo>
                    <a:pt x="699135" y="1003935"/>
                  </a:lnTo>
                  <a:lnTo>
                    <a:pt x="777240" y="1104900"/>
                  </a:lnTo>
                  <a:lnTo>
                    <a:pt x="855345" y="1074420"/>
                  </a:lnTo>
                  <a:lnTo>
                    <a:pt x="932497" y="1172528"/>
                  </a:lnTo>
                  <a:lnTo>
                    <a:pt x="1010603" y="1105853"/>
                  </a:lnTo>
                  <a:lnTo>
                    <a:pt x="1088707" y="1199197"/>
                  </a:lnTo>
                  <a:lnTo>
                    <a:pt x="1165860" y="1106805"/>
                  </a:lnTo>
                  <a:lnTo>
                    <a:pt x="1243965" y="1058228"/>
                  </a:lnTo>
                  <a:lnTo>
                    <a:pt x="1321118" y="1108710"/>
                  </a:lnTo>
                  <a:lnTo>
                    <a:pt x="1399222" y="1074420"/>
                  </a:lnTo>
                  <a:lnTo>
                    <a:pt x="1477328" y="1183958"/>
                  </a:lnTo>
                  <a:lnTo>
                    <a:pt x="1554480" y="1084897"/>
                  </a:lnTo>
                  <a:lnTo>
                    <a:pt x="1632585" y="1164908"/>
                  </a:lnTo>
                  <a:lnTo>
                    <a:pt x="1709738" y="1111568"/>
                  </a:lnTo>
                  <a:lnTo>
                    <a:pt x="1787843" y="1062990"/>
                  </a:lnTo>
                  <a:lnTo>
                    <a:pt x="1865947" y="1108710"/>
                  </a:lnTo>
                  <a:lnTo>
                    <a:pt x="1943100" y="1063942"/>
                  </a:lnTo>
                  <a:lnTo>
                    <a:pt x="2021205" y="1165860"/>
                  </a:lnTo>
                  <a:lnTo>
                    <a:pt x="2098357" y="1052512"/>
                  </a:lnTo>
                  <a:lnTo>
                    <a:pt x="2176462" y="1156335"/>
                  </a:lnTo>
                  <a:lnTo>
                    <a:pt x="2254568" y="1081088"/>
                  </a:lnTo>
                  <a:lnTo>
                    <a:pt x="2331720" y="1055370"/>
                  </a:lnTo>
                  <a:lnTo>
                    <a:pt x="2409825" y="1142047"/>
                  </a:lnTo>
                  <a:lnTo>
                    <a:pt x="2486978" y="1044892"/>
                  </a:lnTo>
                  <a:lnTo>
                    <a:pt x="2565082" y="1161097"/>
                  </a:lnTo>
                  <a:lnTo>
                    <a:pt x="2643188" y="1099185"/>
                  </a:lnTo>
                  <a:lnTo>
                    <a:pt x="2720340" y="1203960"/>
                  </a:lnTo>
                  <a:lnTo>
                    <a:pt x="2798445" y="1132522"/>
                  </a:lnTo>
                  <a:lnTo>
                    <a:pt x="2876550" y="1049655"/>
                  </a:lnTo>
                  <a:lnTo>
                    <a:pt x="2953702" y="1114425"/>
                  </a:lnTo>
                  <a:lnTo>
                    <a:pt x="3031807" y="1076325"/>
                  </a:lnTo>
                  <a:lnTo>
                    <a:pt x="3108960" y="1146810"/>
                  </a:lnTo>
                  <a:lnTo>
                    <a:pt x="3187065" y="1106805"/>
                  </a:lnTo>
                  <a:lnTo>
                    <a:pt x="3265170" y="1199197"/>
                  </a:lnTo>
                  <a:lnTo>
                    <a:pt x="3342322" y="1076325"/>
                  </a:lnTo>
                  <a:lnTo>
                    <a:pt x="3420428" y="1002983"/>
                  </a:lnTo>
                  <a:lnTo>
                    <a:pt x="3497580" y="1147762"/>
                  </a:lnTo>
                  <a:lnTo>
                    <a:pt x="3575685" y="1092518"/>
                  </a:lnTo>
                  <a:lnTo>
                    <a:pt x="3653790" y="1161097"/>
                  </a:lnTo>
                  <a:lnTo>
                    <a:pt x="3730943" y="1053465"/>
                  </a:lnTo>
                  <a:lnTo>
                    <a:pt x="3809048" y="1156335"/>
                  </a:lnTo>
                  <a:lnTo>
                    <a:pt x="3886200" y="1108710"/>
                  </a:lnTo>
                  <a:lnTo>
                    <a:pt x="3964305" y="1003935"/>
                  </a:lnTo>
                  <a:lnTo>
                    <a:pt x="4042410" y="1146810"/>
                  </a:lnTo>
                  <a:lnTo>
                    <a:pt x="4119562" y="1077278"/>
                  </a:lnTo>
                  <a:lnTo>
                    <a:pt x="4197668" y="1194435"/>
                  </a:lnTo>
                  <a:lnTo>
                    <a:pt x="4275772" y="1081088"/>
                  </a:lnTo>
                  <a:lnTo>
                    <a:pt x="4352925" y="1200150"/>
                  </a:lnTo>
                  <a:lnTo>
                    <a:pt x="4431030" y="1094422"/>
                  </a:lnTo>
                  <a:lnTo>
                    <a:pt x="4508182" y="1065847"/>
                  </a:lnTo>
                  <a:lnTo>
                    <a:pt x="4586288" y="1126808"/>
                  </a:lnTo>
                  <a:lnTo>
                    <a:pt x="4664392" y="1097280"/>
                  </a:lnTo>
                  <a:lnTo>
                    <a:pt x="4741545" y="1122997"/>
                  </a:lnTo>
                  <a:lnTo>
                    <a:pt x="4819650" y="1119188"/>
                  </a:lnTo>
                  <a:lnTo>
                    <a:pt x="4896802" y="1152525"/>
                  </a:lnTo>
                  <a:lnTo>
                    <a:pt x="4974908" y="0"/>
                  </a:lnTo>
                  <a:lnTo>
                    <a:pt x="5053012" y="1045845"/>
                  </a:lnTo>
                  <a:lnTo>
                    <a:pt x="5130165" y="1427797"/>
                  </a:lnTo>
                  <a:lnTo>
                    <a:pt x="5208270" y="1360170"/>
                  </a:lnTo>
                  <a:lnTo>
                    <a:pt x="5285423" y="1425892"/>
                  </a:lnTo>
                  <a:lnTo>
                    <a:pt x="5363527" y="1369695"/>
                  </a:lnTo>
                  <a:lnTo>
                    <a:pt x="5441632" y="1445895"/>
                  </a:lnTo>
                  <a:lnTo>
                    <a:pt x="5518785" y="1386840"/>
                  </a:lnTo>
                  <a:lnTo>
                    <a:pt x="5596890" y="1319212"/>
                  </a:lnTo>
                  <a:lnTo>
                    <a:pt x="5674042" y="1419225"/>
                  </a:lnTo>
                  <a:lnTo>
                    <a:pt x="5752148" y="1360170"/>
                  </a:lnTo>
                  <a:lnTo>
                    <a:pt x="5830252" y="1456372"/>
                  </a:lnTo>
                  <a:lnTo>
                    <a:pt x="5907405" y="1392555"/>
                  </a:lnTo>
                  <a:lnTo>
                    <a:pt x="5985510" y="1463040"/>
                  </a:lnTo>
                  <a:lnTo>
                    <a:pt x="6063615" y="1403032"/>
                  </a:lnTo>
                  <a:lnTo>
                    <a:pt x="6140768" y="1349692"/>
                  </a:lnTo>
                  <a:lnTo>
                    <a:pt x="6218873" y="1394460"/>
                  </a:lnTo>
                  <a:lnTo>
                    <a:pt x="6296025" y="1369695"/>
                  </a:lnTo>
                  <a:lnTo>
                    <a:pt x="6374130" y="1411605"/>
                  </a:lnTo>
                  <a:lnTo>
                    <a:pt x="6452235" y="1391603"/>
                  </a:lnTo>
                  <a:lnTo>
                    <a:pt x="6529388" y="1444942"/>
                  </a:lnTo>
                  <a:lnTo>
                    <a:pt x="6607492" y="1392555"/>
                  </a:lnTo>
                  <a:lnTo>
                    <a:pt x="6684645" y="1333500"/>
                  </a:lnTo>
                  <a:lnTo>
                    <a:pt x="6762750" y="1430655"/>
                  </a:lnTo>
                </a:path>
              </a:pathLst>
            </a:custGeom>
            <a:noFill/>
            <a:ln w="38100">
              <a:solidFill>
                <a:srgbClr val="282C63"/>
              </a:solidFill>
            </a:ln>
          </p:spPr>
        </p:sp>
        <p:sp>
          <p:nvSpPr>
            <p:cNvPr id="39" name="Polyline 39"/>
            <p:cNvSpPr/>
            <p:nvPr/>
          </p:nvSpPr>
          <p:spPr>
            <a:xfrm>
              <a:off x="4476750" y="327088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78105" y="0"/>
                  </a:lnTo>
                  <a:lnTo>
                    <a:pt x="155258" y="0"/>
                  </a:lnTo>
                  <a:lnTo>
                    <a:pt x="233362" y="0"/>
                  </a:lnTo>
                  <a:lnTo>
                    <a:pt x="310515" y="0"/>
                  </a:lnTo>
                  <a:lnTo>
                    <a:pt x="388620" y="0"/>
                  </a:lnTo>
                  <a:lnTo>
                    <a:pt x="466725" y="0"/>
                  </a:lnTo>
                  <a:lnTo>
                    <a:pt x="543878" y="0"/>
                  </a:lnTo>
                  <a:lnTo>
                    <a:pt x="621982" y="0"/>
                  </a:lnTo>
                  <a:lnTo>
                    <a:pt x="699135" y="0"/>
                  </a:lnTo>
                  <a:lnTo>
                    <a:pt x="777240" y="0"/>
                  </a:lnTo>
                  <a:lnTo>
                    <a:pt x="855345" y="0"/>
                  </a:lnTo>
                  <a:lnTo>
                    <a:pt x="932497" y="0"/>
                  </a:lnTo>
                  <a:lnTo>
                    <a:pt x="1010603" y="0"/>
                  </a:lnTo>
                  <a:lnTo>
                    <a:pt x="1088707" y="0"/>
                  </a:lnTo>
                  <a:lnTo>
                    <a:pt x="1165860" y="0"/>
                  </a:lnTo>
                  <a:lnTo>
                    <a:pt x="1243965" y="0"/>
                  </a:lnTo>
                  <a:lnTo>
                    <a:pt x="1321118" y="0"/>
                  </a:lnTo>
                  <a:lnTo>
                    <a:pt x="1399222" y="0"/>
                  </a:lnTo>
                  <a:lnTo>
                    <a:pt x="1477328" y="0"/>
                  </a:lnTo>
                  <a:lnTo>
                    <a:pt x="1554480" y="0"/>
                  </a:lnTo>
                  <a:lnTo>
                    <a:pt x="1632585" y="0"/>
                  </a:lnTo>
                  <a:lnTo>
                    <a:pt x="1709738" y="0"/>
                  </a:lnTo>
                  <a:lnTo>
                    <a:pt x="1787843" y="0"/>
                  </a:lnTo>
                  <a:lnTo>
                    <a:pt x="1865947" y="0"/>
                  </a:lnTo>
                  <a:lnTo>
                    <a:pt x="1943100" y="0"/>
                  </a:lnTo>
                  <a:lnTo>
                    <a:pt x="2021205" y="0"/>
                  </a:lnTo>
                  <a:lnTo>
                    <a:pt x="2098357" y="0"/>
                  </a:lnTo>
                  <a:lnTo>
                    <a:pt x="2176462" y="0"/>
                  </a:lnTo>
                  <a:lnTo>
                    <a:pt x="2254568" y="0"/>
                  </a:lnTo>
                  <a:lnTo>
                    <a:pt x="2331720" y="0"/>
                  </a:lnTo>
                  <a:lnTo>
                    <a:pt x="2409825" y="0"/>
                  </a:lnTo>
                  <a:lnTo>
                    <a:pt x="2486978" y="0"/>
                  </a:lnTo>
                  <a:lnTo>
                    <a:pt x="2565082" y="0"/>
                  </a:lnTo>
                  <a:lnTo>
                    <a:pt x="2643188" y="0"/>
                  </a:lnTo>
                  <a:lnTo>
                    <a:pt x="2720340" y="0"/>
                  </a:lnTo>
                  <a:lnTo>
                    <a:pt x="2798445" y="0"/>
                  </a:lnTo>
                  <a:lnTo>
                    <a:pt x="2876550" y="0"/>
                  </a:lnTo>
                  <a:lnTo>
                    <a:pt x="2953702" y="0"/>
                  </a:lnTo>
                  <a:lnTo>
                    <a:pt x="3031807" y="0"/>
                  </a:lnTo>
                  <a:lnTo>
                    <a:pt x="3108960" y="0"/>
                  </a:lnTo>
                  <a:lnTo>
                    <a:pt x="3187065" y="0"/>
                  </a:lnTo>
                  <a:lnTo>
                    <a:pt x="3265170" y="0"/>
                  </a:lnTo>
                  <a:lnTo>
                    <a:pt x="3342322" y="0"/>
                  </a:lnTo>
                  <a:lnTo>
                    <a:pt x="3420428" y="0"/>
                  </a:lnTo>
                  <a:lnTo>
                    <a:pt x="3497580" y="0"/>
                  </a:lnTo>
                  <a:lnTo>
                    <a:pt x="3575685" y="0"/>
                  </a:lnTo>
                  <a:lnTo>
                    <a:pt x="3653790" y="0"/>
                  </a:lnTo>
                  <a:lnTo>
                    <a:pt x="3730943" y="0"/>
                  </a:lnTo>
                  <a:lnTo>
                    <a:pt x="3809048" y="0"/>
                  </a:lnTo>
                  <a:lnTo>
                    <a:pt x="3886200" y="0"/>
                  </a:lnTo>
                  <a:lnTo>
                    <a:pt x="3964305" y="0"/>
                  </a:lnTo>
                  <a:lnTo>
                    <a:pt x="4042410" y="0"/>
                  </a:lnTo>
                  <a:lnTo>
                    <a:pt x="4119562" y="0"/>
                  </a:lnTo>
                  <a:lnTo>
                    <a:pt x="4197668" y="0"/>
                  </a:lnTo>
                  <a:lnTo>
                    <a:pt x="4275772" y="0"/>
                  </a:lnTo>
                  <a:lnTo>
                    <a:pt x="4352925" y="0"/>
                  </a:lnTo>
                  <a:lnTo>
                    <a:pt x="4431030" y="0"/>
                  </a:lnTo>
                  <a:lnTo>
                    <a:pt x="4508182" y="0"/>
                  </a:lnTo>
                  <a:lnTo>
                    <a:pt x="4586288" y="0"/>
                  </a:lnTo>
                  <a:lnTo>
                    <a:pt x="4664392" y="0"/>
                  </a:lnTo>
                  <a:lnTo>
                    <a:pt x="4741545" y="0"/>
                  </a:lnTo>
                  <a:lnTo>
                    <a:pt x="4819650" y="0"/>
                  </a:lnTo>
                  <a:lnTo>
                    <a:pt x="4896802" y="0"/>
                  </a:lnTo>
                  <a:lnTo>
                    <a:pt x="4974908" y="0"/>
                  </a:lnTo>
                  <a:lnTo>
                    <a:pt x="5053012" y="0"/>
                  </a:lnTo>
                  <a:lnTo>
                    <a:pt x="5130165" y="0"/>
                  </a:lnTo>
                  <a:lnTo>
                    <a:pt x="5208270" y="0"/>
                  </a:lnTo>
                  <a:lnTo>
                    <a:pt x="5285423" y="0"/>
                  </a:lnTo>
                  <a:lnTo>
                    <a:pt x="5363527" y="0"/>
                  </a:lnTo>
                  <a:lnTo>
                    <a:pt x="5441632" y="0"/>
                  </a:lnTo>
                  <a:lnTo>
                    <a:pt x="5518785" y="0"/>
                  </a:lnTo>
                  <a:lnTo>
                    <a:pt x="5596890" y="0"/>
                  </a:lnTo>
                  <a:lnTo>
                    <a:pt x="5674042" y="0"/>
                  </a:lnTo>
                  <a:lnTo>
                    <a:pt x="5752148" y="0"/>
                  </a:lnTo>
                  <a:lnTo>
                    <a:pt x="5830252" y="0"/>
                  </a:lnTo>
                  <a:lnTo>
                    <a:pt x="5907405" y="0"/>
                  </a:lnTo>
                  <a:lnTo>
                    <a:pt x="5985510" y="0"/>
                  </a:lnTo>
                  <a:lnTo>
                    <a:pt x="6063615" y="0"/>
                  </a:lnTo>
                  <a:lnTo>
                    <a:pt x="6140768" y="0"/>
                  </a:lnTo>
                  <a:lnTo>
                    <a:pt x="6218873" y="0"/>
                  </a:lnTo>
                  <a:lnTo>
                    <a:pt x="6296025" y="0"/>
                  </a:lnTo>
                  <a:lnTo>
                    <a:pt x="6374130" y="0"/>
                  </a:lnTo>
                  <a:lnTo>
                    <a:pt x="6452235" y="0"/>
                  </a:lnTo>
                  <a:lnTo>
                    <a:pt x="6529388" y="0"/>
                  </a:lnTo>
                  <a:lnTo>
                    <a:pt x="6607492" y="0"/>
                  </a:lnTo>
                  <a:lnTo>
                    <a:pt x="6684645" y="0"/>
                  </a:lnTo>
                  <a:lnTo>
                    <a:pt x="6762750" y="0"/>
                  </a:lnTo>
                </a:path>
              </a:pathLst>
            </a:custGeom>
            <a:noFill/>
            <a:ln w="19050">
              <a:solidFill>
                <a:srgbClr val="D99000"/>
              </a:solidFill>
              <a:custDash>
                <a:ds d="400000" sp="350000"/>
              </a:custDash>
            </a:ln>
          </p:spPr>
        </p:sp>
        <p:sp>
          <p:nvSpPr>
            <p:cNvPr id="40" name="Polyline 40"/>
            <p:cNvSpPr/>
            <p:nvPr/>
          </p:nvSpPr>
          <p:spPr>
            <a:xfrm>
              <a:off x="4476750" y="304990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78105" y="0"/>
                  </a:lnTo>
                  <a:lnTo>
                    <a:pt x="155258" y="0"/>
                  </a:lnTo>
                  <a:lnTo>
                    <a:pt x="233362" y="0"/>
                  </a:lnTo>
                  <a:lnTo>
                    <a:pt x="310515" y="0"/>
                  </a:lnTo>
                  <a:lnTo>
                    <a:pt x="388620" y="0"/>
                  </a:lnTo>
                  <a:lnTo>
                    <a:pt x="466725" y="0"/>
                  </a:lnTo>
                  <a:lnTo>
                    <a:pt x="543878" y="0"/>
                  </a:lnTo>
                  <a:lnTo>
                    <a:pt x="621982" y="0"/>
                  </a:lnTo>
                  <a:lnTo>
                    <a:pt x="699135" y="0"/>
                  </a:lnTo>
                  <a:lnTo>
                    <a:pt x="777240" y="0"/>
                  </a:lnTo>
                  <a:lnTo>
                    <a:pt x="855345" y="0"/>
                  </a:lnTo>
                  <a:lnTo>
                    <a:pt x="932497" y="0"/>
                  </a:lnTo>
                  <a:lnTo>
                    <a:pt x="1010603" y="0"/>
                  </a:lnTo>
                  <a:lnTo>
                    <a:pt x="1088707" y="0"/>
                  </a:lnTo>
                  <a:lnTo>
                    <a:pt x="1165860" y="0"/>
                  </a:lnTo>
                  <a:lnTo>
                    <a:pt x="1243965" y="0"/>
                  </a:lnTo>
                  <a:lnTo>
                    <a:pt x="1321118" y="0"/>
                  </a:lnTo>
                  <a:lnTo>
                    <a:pt x="1399222" y="0"/>
                  </a:lnTo>
                  <a:lnTo>
                    <a:pt x="1477328" y="0"/>
                  </a:lnTo>
                  <a:lnTo>
                    <a:pt x="1554480" y="0"/>
                  </a:lnTo>
                  <a:lnTo>
                    <a:pt x="1632585" y="0"/>
                  </a:lnTo>
                  <a:lnTo>
                    <a:pt x="1709738" y="0"/>
                  </a:lnTo>
                  <a:lnTo>
                    <a:pt x="1787843" y="0"/>
                  </a:lnTo>
                  <a:lnTo>
                    <a:pt x="1865947" y="0"/>
                  </a:lnTo>
                  <a:lnTo>
                    <a:pt x="1943100" y="0"/>
                  </a:lnTo>
                  <a:lnTo>
                    <a:pt x="2021205" y="0"/>
                  </a:lnTo>
                  <a:lnTo>
                    <a:pt x="2098357" y="0"/>
                  </a:lnTo>
                  <a:lnTo>
                    <a:pt x="2176462" y="0"/>
                  </a:lnTo>
                  <a:lnTo>
                    <a:pt x="2254568" y="0"/>
                  </a:lnTo>
                  <a:lnTo>
                    <a:pt x="2331720" y="0"/>
                  </a:lnTo>
                  <a:lnTo>
                    <a:pt x="2409825" y="0"/>
                  </a:lnTo>
                  <a:lnTo>
                    <a:pt x="2486978" y="0"/>
                  </a:lnTo>
                  <a:lnTo>
                    <a:pt x="2565082" y="0"/>
                  </a:lnTo>
                  <a:lnTo>
                    <a:pt x="2643188" y="0"/>
                  </a:lnTo>
                  <a:lnTo>
                    <a:pt x="2720340" y="0"/>
                  </a:lnTo>
                  <a:lnTo>
                    <a:pt x="2798445" y="0"/>
                  </a:lnTo>
                  <a:lnTo>
                    <a:pt x="2876550" y="0"/>
                  </a:lnTo>
                  <a:lnTo>
                    <a:pt x="2953702" y="0"/>
                  </a:lnTo>
                  <a:lnTo>
                    <a:pt x="3031807" y="0"/>
                  </a:lnTo>
                  <a:lnTo>
                    <a:pt x="3108960" y="0"/>
                  </a:lnTo>
                  <a:lnTo>
                    <a:pt x="3187065" y="0"/>
                  </a:lnTo>
                  <a:lnTo>
                    <a:pt x="3265170" y="0"/>
                  </a:lnTo>
                  <a:lnTo>
                    <a:pt x="3342322" y="0"/>
                  </a:lnTo>
                  <a:lnTo>
                    <a:pt x="3420428" y="0"/>
                  </a:lnTo>
                  <a:lnTo>
                    <a:pt x="3497580" y="0"/>
                  </a:lnTo>
                  <a:lnTo>
                    <a:pt x="3575685" y="0"/>
                  </a:lnTo>
                  <a:lnTo>
                    <a:pt x="3653790" y="0"/>
                  </a:lnTo>
                  <a:lnTo>
                    <a:pt x="3730943" y="0"/>
                  </a:lnTo>
                  <a:lnTo>
                    <a:pt x="3809048" y="0"/>
                  </a:lnTo>
                  <a:lnTo>
                    <a:pt x="3886200" y="0"/>
                  </a:lnTo>
                  <a:lnTo>
                    <a:pt x="3964305" y="0"/>
                  </a:lnTo>
                  <a:lnTo>
                    <a:pt x="4042410" y="0"/>
                  </a:lnTo>
                  <a:lnTo>
                    <a:pt x="4119562" y="0"/>
                  </a:lnTo>
                  <a:lnTo>
                    <a:pt x="4197668" y="0"/>
                  </a:lnTo>
                  <a:lnTo>
                    <a:pt x="4275772" y="0"/>
                  </a:lnTo>
                  <a:lnTo>
                    <a:pt x="4352925" y="0"/>
                  </a:lnTo>
                  <a:lnTo>
                    <a:pt x="4431030" y="0"/>
                  </a:lnTo>
                  <a:lnTo>
                    <a:pt x="4508182" y="0"/>
                  </a:lnTo>
                  <a:lnTo>
                    <a:pt x="4586288" y="0"/>
                  </a:lnTo>
                  <a:lnTo>
                    <a:pt x="4664392" y="0"/>
                  </a:lnTo>
                  <a:lnTo>
                    <a:pt x="4741545" y="0"/>
                  </a:lnTo>
                  <a:lnTo>
                    <a:pt x="4819650" y="0"/>
                  </a:lnTo>
                  <a:lnTo>
                    <a:pt x="4896802" y="0"/>
                  </a:lnTo>
                  <a:lnTo>
                    <a:pt x="4974908" y="0"/>
                  </a:lnTo>
                  <a:lnTo>
                    <a:pt x="5053012" y="0"/>
                  </a:lnTo>
                  <a:lnTo>
                    <a:pt x="5130165" y="0"/>
                  </a:lnTo>
                  <a:lnTo>
                    <a:pt x="5208270" y="0"/>
                  </a:lnTo>
                  <a:lnTo>
                    <a:pt x="5285423" y="0"/>
                  </a:lnTo>
                  <a:lnTo>
                    <a:pt x="5363527" y="0"/>
                  </a:lnTo>
                  <a:lnTo>
                    <a:pt x="5441632" y="0"/>
                  </a:lnTo>
                  <a:lnTo>
                    <a:pt x="5518785" y="0"/>
                  </a:lnTo>
                  <a:lnTo>
                    <a:pt x="5596890" y="0"/>
                  </a:lnTo>
                  <a:lnTo>
                    <a:pt x="5674042" y="0"/>
                  </a:lnTo>
                  <a:lnTo>
                    <a:pt x="5752148" y="0"/>
                  </a:lnTo>
                  <a:lnTo>
                    <a:pt x="5830252" y="0"/>
                  </a:lnTo>
                  <a:lnTo>
                    <a:pt x="5907405" y="0"/>
                  </a:lnTo>
                  <a:lnTo>
                    <a:pt x="5985510" y="0"/>
                  </a:lnTo>
                  <a:lnTo>
                    <a:pt x="6063615" y="0"/>
                  </a:lnTo>
                  <a:lnTo>
                    <a:pt x="6140768" y="0"/>
                  </a:lnTo>
                  <a:lnTo>
                    <a:pt x="6218873" y="0"/>
                  </a:lnTo>
                  <a:lnTo>
                    <a:pt x="6296025" y="0"/>
                  </a:lnTo>
                  <a:lnTo>
                    <a:pt x="6374130" y="0"/>
                  </a:lnTo>
                  <a:lnTo>
                    <a:pt x="6452235" y="0"/>
                  </a:lnTo>
                  <a:lnTo>
                    <a:pt x="6529388" y="0"/>
                  </a:lnTo>
                  <a:lnTo>
                    <a:pt x="6607492" y="0"/>
                  </a:lnTo>
                  <a:lnTo>
                    <a:pt x="6684645" y="0"/>
                  </a:lnTo>
                  <a:lnTo>
                    <a:pt x="6762750" y="0"/>
                  </a:lnTo>
                </a:path>
              </a:pathLst>
            </a:custGeom>
            <a:noFill/>
            <a:ln w="19050">
              <a:solidFill>
                <a:srgbClr val="E60028"/>
              </a:solidFill>
              <a:custDash>
                <a:ds d="400000" sp="35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71988" y="5405438"/>
              <a:ext cx="56483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2025-07-01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79430" y="5405438"/>
              <a:ext cx="56483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2026-06-30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471738" y="6167438"/>
            <a:ext cx="4266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LF-001, LF-002, LF-003, LF-004 | Overview: risk-metrics.limit-utilization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288941" cy="1221199"/>
            <a:chOff x="444246" y="485299"/>
            <a:chExt cx="8288941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20516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YEAR-END ADJUSTMENT REVIEW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288941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Large year-end freeze adjustment and period-end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concentration warrant review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1695450"/>
            <a:ext cx="3333750" cy="4019550"/>
            <a:chOff x="457200" y="1695450"/>
            <a:chExt cx="3333750" cy="4019550"/>
          </a:xfrm>
        </p:grpSpPr>
        <p:sp>
          <p:nvSpPr>
            <p:cNvPr id="11" name="Rectangle 11"/>
            <p:cNvSpPr/>
            <p:nvPr/>
          </p:nvSpPr>
          <p:spPr>
            <a:xfrm>
              <a:off x="457200" y="1695450"/>
              <a:ext cx="3333750" cy="40195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695450"/>
              <a:ext cx="3333750" cy="552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1933099"/>
              <a:ext cx="1422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REVIEW COMMENTARY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246554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Adjustment 96600008 is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-6.25M EUR with z-score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-3.28, the largest in the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period.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8481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5154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038" y="4074795"/>
              <a:ext cx="997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WHY IT MATTERS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" y="4366260"/>
              <a:ext cx="2336292" cy="606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Period-end concentration in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Dec-2025, Mar-2026, Jun-2026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may signal routine accruals but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5225891"/>
              <a:ext cx="1910080" cy="417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05"/>
                </a:lnSpc>
              </a:pPr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Absolute amounts do not preserve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adjustment direction; EUR conversion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mismatches possible.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695450"/>
            <a:ext cx="7086600" cy="781050"/>
            <a:chOff x="4248150" y="1695450"/>
            <a:chExt cx="7086600" cy="781050"/>
          </a:xfrm>
        </p:grpSpPr>
        <p:sp>
          <p:nvSpPr>
            <p:cNvPr id="20" name="Rectangle 20"/>
            <p:cNvSpPr/>
            <p:nvPr/>
          </p:nvSpPr>
          <p:spPr>
            <a:xfrm>
              <a:off x="42481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76738" y="1833562"/>
              <a:ext cx="7096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ADJUSTMENTS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2356" y="2044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579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6488" y="1833562"/>
              <a:ext cx="9728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ABSOLUTE AMOUNT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2106" y="2044065"/>
              <a:ext cx="1557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29795335.51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676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96238" y="1833562"/>
              <a:ext cx="9112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BLANK COMMENTS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6774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05988" y="1833562"/>
              <a:ext cx="14377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RAPID REVERSAL CANDIDATES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1606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76750" y="2876550"/>
            <a:ext cx="6762750" cy="2676526"/>
            <a:chOff x="4476750" y="2876550"/>
            <a:chExt cx="6762750" cy="2676526"/>
          </a:xfrm>
        </p:grpSpPr>
        <p:sp>
          <p:nvSpPr>
            <p:cNvPr id="33" name="Line 33"/>
            <p:cNvSpPr/>
            <p:nvPr/>
          </p:nvSpPr>
          <p:spPr>
            <a:xfrm>
              <a:off x="4476750" y="5257800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76750" y="28765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476750" y="3471862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476750" y="406717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476750" y="4662488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83430" y="4667250"/>
              <a:ext cx="349568" cy="59055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59411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47310" y="5135880"/>
              <a:ext cx="349568" cy="12192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1190" y="4776788"/>
              <a:ext cx="349568" cy="481012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86536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74118" y="4945380"/>
              <a:ext cx="349568" cy="31242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37998" y="5256848"/>
              <a:ext cx="349568" cy="952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13661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2025-11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401878" y="2876550"/>
              <a:ext cx="349568" cy="238125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64805" y="5032058"/>
              <a:ext cx="349568" cy="225742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40786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28685" y="4790122"/>
              <a:ext cx="349568" cy="467678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092565" y="4133850"/>
              <a:ext cx="349568" cy="112395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67911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655492" y="5185410"/>
              <a:ext cx="349568" cy="7239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19372" y="5082540"/>
              <a:ext cx="349568" cy="17526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195036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783252" y="3723322"/>
              <a:ext cx="349568" cy="1534478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2471738" y="6167438"/>
            <a:ext cx="306928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LF-005, LF-006 | Overview: pnl.adjustment-profile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679990" cy="1221199"/>
            <a:chOff x="444246" y="485299"/>
            <a:chExt cx="8679990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1590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POST-TRADE CONTROLS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679990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Approval references are complete; closure timing is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unavailable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1695450"/>
            <a:ext cx="3333750" cy="4019550"/>
            <a:chOff x="457200" y="1695450"/>
            <a:chExt cx="3333750" cy="4019550"/>
          </a:xfrm>
        </p:grpSpPr>
        <p:sp>
          <p:nvSpPr>
            <p:cNvPr id="11" name="Rectangle 11"/>
            <p:cNvSpPr/>
            <p:nvPr/>
          </p:nvSpPr>
          <p:spPr>
            <a:xfrm>
              <a:off x="457200" y="1695450"/>
              <a:ext cx="3333750" cy="40195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695450"/>
              <a:ext cx="3333750" cy="552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1933099"/>
              <a:ext cx="1422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REVIEW COMMENTARY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238553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All 14 breaches have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approval references;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closure status and mean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closure time cannot be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8481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5154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038" y="4074795"/>
              <a:ext cx="997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WHY IT MATTERS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" y="4366260"/>
              <a:ext cx="2290572" cy="606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Approval evidence is complete,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but closure tracking needs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better date quality.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5225891"/>
              <a:ext cx="1675765" cy="417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05"/>
                </a:lnSpc>
              </a:pPr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Each row treated as one breach;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status inferred only from valid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closure date.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695450"/>
            <a:ext cx="7086600" cy="781050"/>
            <a:chOff x="4248150" y="1695450"/>
            <a:chExt cx="7086600" cy="781050"/>
          </a:xfrm>
        </p:grpSpPr>
        <p:sp>
          <p:nvSpPr>
            <p:cNvPr id="20" name="Rectangle 20"/>
            <p:cNvSpPr/>
            <p:nvPr/>
          </p:nvSpPr>
          <p:spPr>
            <a:xfrm>
              <a:off x="42481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76738" y="1833562"/>
              <a:ext cx="50238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BREACHES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2356" y="2044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579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6488" y="1833562"/>
              <a:ext cx="80482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APPROVAL GAPS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2106" y="2044065"/>
              <a:ext cx="1265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 (0.00%)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676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96238" y="1833562"/>
              <a:ext cx="5247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RESOLVED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044065"/>
              <a:ext cx="1265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 (0.00%)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6774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05988" y="1833562"/>
              <a:ext cx="7656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MEAN CLOSURE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1606" y="2044065"/>
              <a:ext cx="1373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Unavailable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76750" y="2876550"/>
            <a:ext cx="6762750" cy="2676526"/>
            <a:chOff x="4476750" y="2876550"/>
            <a:chExt cx="6762750" cy="2676526"/>
          </a:xfrm>
        </p:grpSpPr>
        <p:sp>
          <p:nvSpPr>
            <p:cNvPr id="33" name="Line 33"/>
            <p:cNvSpPr/>
            <p:nvPr/>
          </p:nvSpPr>
          <p:spPr>
            <a:xfrm>
              <a:off x="4476750" y="5257800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76750" y="28765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9050">
              <a:solidFill>
                <a:srgbClr val="07073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476750" y="3471862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476750" y="4067175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476750" y="4662488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93908" y="4067175"/>
              <a:ext cx="381000" cy="1190625"/>
            </a:xfrm>
            <a:prstGeom prst="rect">
              <a:avLst/>
            </a:prstGeom>
            <a:solidFill>
              <a:srgbClr val="D990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85028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208270" y="2876550"/>
              <a:ext cx="381000" cy="238125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3585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14619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2025-09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7948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052310" y="4067175"/>
              <a:ext cx="381000" cy="1190625"/>
            </a:xfrm>
            <a:prstGeom prst="rect">
              <a:avLst/>
            </a:prstGeom>
            <a:solidFill>
              <a:srgbClr val="D990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44209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2025-11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67625" y="2876550"/>
              <a:ext cx="381000" cy="2381250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81988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73800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897302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11665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511665" y="2876550"/>
              <a:ext cx="381000" cy="1190625"/>
            </a:xfrm>
            <a:prstGeom prst="rect">
              <a:avLst/>
            </a:prstGeom>
            <a:solidFill>
              <a:srgbClr val="D990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03391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26980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741342" y="4067175"/>
              <a:ext cx="381000" cy="1190625"/>
            </a:xfrm>
            <a:prstGeom prst="rect">
              <a:avLst/>
            </a:prstGeom>
            <a:solidFill>
              <a:srgbClr val="282C6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32982" y="5405438"/>
              <a:ext cx="3982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2026-05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2471738" y="6167438"/>
            <a:ext cx="4040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reviewed output | Overview: post-trade-controls.breaches-over-time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356949" cy="1221199"/>
            <a:chOff x="444246" y="485299"/>
            <a:chExt cx="8356949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12320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RISK COMMENTARY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356949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Commentary claim of VaR within appetite conflicts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with breach evidence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1695450"/>
            <a:ext cx="3333750" cy="4019550"/>
            <a:chOff x="457200" y="1695450"/>
            <a:chExt cx="3333750" cy="4019550"/>
          </a:xfrm>
        </p:grpSpPr>
        <p:sp>
          <p:nvSpPr>
            <p:cNvPr id="11" name="Rectangle 11"/>
            <p:cNvSpPr/>
            <p:nvPr/>
          </p:nvSpPr>
          <p:spPr>
            <a:xfrm>
              <a:off x="457200" y="1695450"/>
              <a:ext cx="3333750" cy="40195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695450"/>
              <a:ext cx="3333750" cy="552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1933099"/>
              <a:ext cx="1422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REVIEW COMMENTARY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254555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Validated commentary on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2026-03-27 states no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escalation required, but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VaR breach occurred same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8481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5154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038" y="4074795"/>
              <a:ext cx="997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WHY IT MATTERS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" y="4366260"/>
              <a:ext cx="2229612" cy="606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Conflicting claims undermine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trust in commentary; pending</a:t>
              </a:r>
              <a:br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validation may hide further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038" y="5225891"/>
              <a:ext cx="1800733" cy="417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05"/>
                </a:lnSpc>
              </a:pPr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Coverage counts finalized extracts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only; underlying commentary</a:t>
              </a:r>
              <a:br/>
              <a:r>
                <a:rPr lang="en-US" sz="820" dirty="0">
                  <a:solidFill>
                    <a:srgbClr val="D9D9DF"/>
                  </a:solidFill>
                  <a:latin typeface="Arial"/>
                  <a:ea typeface="Arial"/>
                  <a:cs typeface="Arial"/>
                </a:rPr>
                <a:t>completeness not implied.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695450"/>
            <a:ext cx="7086600" cy="781050"/>
            <a:chOff x="4248150" y="1695450"/>
            <a:chExt cx="7086600" cy="781050"/>
          </a:xfrm>
        </p:grpSpPr>
        <p:sp>
          <p:nvSpPr>
            <p:cNvPr id="20" name="Rectangle 20"/>
            <p:cNvSpPr/>
            <p:nvPr/>
          </p:nvSpPr>
          <p:spPr>
            <a:xfrm>
              <a:off x="42481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76738" y="1833562"/>
              <a:ext cx="50238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EXTRACTS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2356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579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6488" y="1833562"/>
              <a:ext cx="9112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QUOTED RECORDS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2106" y="2044065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266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6765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96238" y="1833562"/>
              <a:ext cx="10624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UNIQUE EVIDENCE IDS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044065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266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677400" y="1695450"/>
              <a:ext cx="1657350" cy="78105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05988" y="1833562"/>
              <a:ext cx="8720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VALIDATION GAPS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1606" y="2044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248150" y="2686050"/>
            <a:ext cx="7334250" cy="2609850"/>
            <a:chOff x="4248150" y="2686050"/>
            <a:chExt cx="7334250" cy="2609850"/>
          </a:xfrm>
        </p:grpSpPr>
        <p:sp>
          <p:nvSpPr>
            <p:cNvPr id="33" name="Rectangle 33"/>
            <p:cNvSpPr/>
            <p:nvPr/>
          </p:nvSpPr>
          <p:spPr>
            <a:xfrm>
              <a:off x="4248150" y="2686050"/>
              <a:ext cx="7334250" cy="2609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48150" y="2686050"/>
              <a:ext cx="7334250" cy="3619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95788" y="2843212"/>
              <a:ext cx="4407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EXTRACT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2988" y="2843212"/>
              <a:ext cx="2895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LINES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4988" y="2843212"/>
              <a:ext cx="4239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QUOTED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1738" y="2843212"/>
              <a:ext cx="1663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8488" y="2843212"/>
              <a:ext cx="2559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GAPS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95788" y="3197066"/>
              <a:ext cx="11244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desk_background.md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62988" y="31970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24988" y="31970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91738" y="31970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58488" y="31970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248150" y="3419475"/>
              <a:ext cx="7334250" cy="371475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95788" y="3568541"/>
              <a:ext cx="1033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62988" y="356854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370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24988" y="35685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91738" y="35685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58488" y="3568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95788" y="3940016"/>
              <a:ext cx="1640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pnl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62988" y="394001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370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24988" y="39400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91738" y="39400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58488" y="39400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248150" y="4162425"/>
              <a:ext cx="7334250" cy="371475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395788" y="4311491"/>
              <a:ext cx="7049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risk_metrics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62988" y="431149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370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24988" y="4311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91738" y="4311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58488" y="4311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95788" y="4682966"/>
              <a:ext cx="6773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stress_test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62988" y="468296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370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24988" y="46829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91738" y="46829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58488" y="46829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248150" y="4905375"/>
              <a:ext cx="7334250" cy="371475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395788" y="5054441"/>
              <a:ext cx="495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var_svar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62988" y="505444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376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24988" y="5054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91738" y="50544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54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58488" y="5054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2471738" y="6167438"/>
            <a:ext cx="329147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LF-008 | Overview: risk-commentary.extract-coverage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220932" cy="1221199"/>
            <a:chOff x="444246" y="485299"/>
            <a:chExt cx="8220932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8149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RISK REVIEW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220932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Moderate risk profile with isolated high-severity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governance concerns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752600"/>
            <a:ext cx="11277600" cy="857250"/>
            <a:chOff x="457200" y="1752600"/>
            <a:chExt cx="11277600" cy="857250"/>
          </a:xfrm>
        </p:grpSpPr>
        <p:sp>
          <p:nvSpPr>
            <p:cNvPr id="11" name="Rectangle 11"/>
            <p:cNvSpPr/>
            <p:nvPr/>
          </p:nvSpPr>
          <p:spPr>
            <a:xfrm>
              <a:off x="457200" y="1752600"/>
              <a:ext cx="11277600" cy="857250"/>
            </a:xfrm>
            <a:prstGeom prst="rect">
              <a:avLst/>
            </a:prstGeom>
            <a:solidFill>
              <a:srgbClr val="0707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518" y="1965008"/>
              <a:ext cx="8366808" cy="577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10"/>
                </a:lnSpc>
              </a:pPr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VaR breach and limit increase timing suggest potential control circumvention;</a:t>
              </a:r>
              <a:br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post-trade approval references are complete; data gaps require follow-up.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2952750"/>
            <a:ext cx="11125200" cy="2286000"/>
            <a:chOff x="457200" y="2952750"/>
            <a:chExt cx="111252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457200" y="2952750"/>
              <a:ext cx="3505200" cy="22860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7200" y="2952750"/>
              <a:ext cx="3505200" cy="762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285649"/>
              <a:ext cx="492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LF-001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180" y="3629025"/>
              <a:ext cx="3385661" cy="758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VaR limit breach on MOCK_PC_FLOW</a:t>
              </a:r>
              <a:br/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with subsequent limit increase</a:t>
              </a:r>
              <a:br/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effective before approval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67200" y="2952750"/>
              <a:ext cx="3505200" cy="22860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67200" y="2952750"/>
              <a:ext cx="3505200" cy="762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90847" y="3285649"/>
              <a:ext cx="492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LF-002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8180" y="3629025"/>
              <a:ext cx="3085624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Recurring VaR excess events on</a:t>
              </a:r>
              <a:br/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MOCK_PC_FLOW with open items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77200" y="2952750"/>
              <a:ext cx="3505200" cy="22860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952750"/>
              <a:ext cx="3505200" cy="762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00847" y="3285649"/>
              <a:ext cx="492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LF-003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8180" y="3629025"/>
              <a:ext cx="3035618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30"/>
                </a:lnSpc>
              </a:pPr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Data inconsistencies in Colibris</a:t>
              </a:r>
              <a:br/>
              <a:r>
                <a:rPr lang="en-US" sz="15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workflow records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104" y="5566410"/>
            <a:ext cx="6002379" cy="234696"/>
            <a:chOff x="451104" y="5566410"/>
            <a:chExt cx="6002379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5566410"/>
              <a:ext cx="6002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Unresolved data gaps and missing unique identifiers limit full reconciliation.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471738" y="6167438"/>
            <a:ext cx="34909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LF-001, LF-002, LF-003, LF-004, LF-005, LF-006, LF-008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4246" y="485299"/>
            <a:ext cx="8765000" cy="1221199"/>
            <a:chOff x="444246" y="485299"/>
            <a:chExt cx="8765000" cy="1221199"/>
          </a:xfrm>
        </p:grpSpPr>
        <p:sp>
          <p:nvSpPr>
            <p:cNvPr id="2" name="TextBox 2"/>
            <p:cNvSpPr txBox="1"/>
            <p:nvPr/>
          </p:nvSpPr>
          <p:spPr>
            <a:xfrm>
              <a:off x="452247" y="485299"/>
              <a:ext cx="1319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IMMEDIATE ACTIONS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457200" y="74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rgbClr val="E60028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44246" y="858202"/>
              <a:ext cx="8765000" cy="848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52"/>
                </a:lnSpc>
              </a:pPr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Immediate actions: investigate limit change, resolve</a:t>
              </a:r>
              <a:br/>
              <a:r>
                <a:rPr lang="en-US" sz="25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data inconsistencies, validate commentary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6343650"/>
            <a:ext cx="11282553" cy="352139"/>
            <a:chOff x="457200" y="6343650"/>
            <a:chExt cx="11282553" cy="352139"/>
          </a:xfrm>
        </p:grpSpPr>
        <p:sp>
          <p:nvSpPr>
            <p:cNvPr id="6" name="Line 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9D9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6477000"/>
              <a:ext cx="57150" cy="17145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6513195"/>
              <a:ext cx="156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INDEPENDENT RISK REVIEW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53659" y="6505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7200" y="1905000"/>
            <a:ext cx="11125200" cy="3124200"/>
            <a:chOff x="457200" y="1905000"/>
            <a:chExt cx="11125200" cy="3124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905000"/>
              <a:ext cx="5410200" cy="14097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905000"/>
              <a:ext cx="76200" cy="14097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7042" y="2159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93292" y="2159318"/>
              <a:ext cx="4442270" cy="683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Obtain limit change approval and effective-date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history for MOCK_LIMIT_01_01 to confirm whether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the change was retrospective.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72200" y="1905000"/>
              <a:ext cx="5410200" cy="14097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72200" y="1905000"/>
              <a:ext cx="76200" cy="14097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2042" y="2159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08292" y="2159318"/>
              <a:ext cx="4361259" cy="683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Investigate root cause of recurring VaR breaches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on MOCK_PC_FLOW and assess limit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appropriateness.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3619500"/>
              <a:ext cx="5410200" cy="14097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3619500"/>
              <a:ext cx="76200" cy="14097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7042" y="38738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3292" y="3873818"/>
              <a:ext cx="404622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Confirm extract freshness and obtain closure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evidence for open excess events.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72200" y="3619500"/>
              <a:ext cx="5410200" cy="1409700"/>
            </a:xfrm>
            <a:prstGeom prst="rect">
              <a:avLst/>
            </a:prstGeom>
            <a:solidFill>
              <a:srgbClr val="F2F2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72200" y="3619500"/>
              <a:ext cx="76200" cy="1409700"/>
            </a:xfrm>
            <a:prstGeom prst="rect">
              <a:avLst/>
            </a:prstGeom>
            <a:solidFill>
              <a:srgbClr val="E6002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32042" y="38738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60028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08292" y="3873818"/>
              <a:ext cx="4181237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Verify Colibris workflow data completeness and</a:t>
              </a:r>
              <a:br/>
              <a:r>
                <a:rPr lang="en-US" sz="1350" b="1" dirty="0">
                  <a:solidFill>
                    <a:srgbClr val="07073F"/>
                  </a:solidFill>
                  <a:latin typeface="Arial"/>
                  <a:ea typeface="Arial"/>
                  <a:cs typeface="Arial"/>
                </a:rPr>
                <a:t>correct timestamp/increaseId inconsistencies.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0342" y="5493068"/>
            <a:ext cx="6062690" cy="264033"/>
            <a:chOff x="450342" y="5493068"/>
            <a:chExt cx="6062690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450342" y="5493068"/>
              <a:ext cx="6062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78"/>
                  </a:solidFill>
                  <a:latin typeface="Arial"/>
                  <a:ea typeface="Arial"/>
                  <a:cs typeface="Arial"/>
                </a:rPr>
                <a:t>Act now to correct governance gaps and ensure risk data integrity.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71738" y="6167438"/>
            <a:ext cx="305047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B6B78"/>
                </a:solidFill>
                <a:latin typeface="Arial"/>
                <a:ea typeface="Arial"/>
                <a:cs typeface="Arial"/>
              </a:rPr>
              <a:t>Evidence: LF-001, LF-002, LF-003, LF-004, LF-005, LF-008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 Review">
  <a:themeElements>
    <a:clrScheme name="Risk 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isk 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sk 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isk Review">
  <a:themeElements>
    <a:clrScheme name="Risk 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isk 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sk 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Cross-Asset Market Making Desk — Independent Trading-Desk Risk Review</dc:title>
  <dc:subject>Independent risk review</dc:subject>
  <dc:creator/>
  <cp:keywords/>
  <dc:description/>
  <dc:language/>
  <cp:lastModifiedBy/>
  <cp:revision>1</cp:revision>
  <dcterms:created xsi:type="dcterms:W3CDTF">2026-08-24T12:53:17Z</dcterms:created>
  <dcterms:modified xsi:type="dcterms:W3CDTF">2026-08-24T12:53:17Z</dcterms:modified>
  <cp:category/>
  <cp:contentStatus/>
</cp:coreProperties>
</file>