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ff0489ca6c4db1" /><Relationship Type="http://schemas.openxmlformats.org/officeDocument/2006/relationships/extended-properties" Target="/docProps/app.xml" Id="R6faa213b0ffd46f7" /><Relationship Type="http://schemas.openxmlformats.org/officeDocument/2006/relationships/officeDocument" Target="/ppt/presentation.xml" Id="Raf6ed42dc4aa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82c471fb0c4763"/>
  </p:sldMasterIdLst>
  <p:notesMasterIdLst>
    <p:notesMasterId xmlns:r="http://schemas.openxmlformats.org/officeDocument/2006/relationships" r:id="R32dd5d1266da430e"/>
  </p:notesMasterIdLst>
  <p:sldIdLst>
    <p:sldId xmlns:r="http://schemas.openxmlformats.org/officeDocument/2006/relationships" id="256" r:id="R5603f10206764c5a"/>
    <p:sldId xmlns:r="http://schemas.openxmlformats.org/officeDocument/2006/relationships" id="257" r:id="R0a8d245ad2784d14"/>
    <p:sldId xmlns:r="http://schemas.openxmlformats.org/officeDocument/2006/relationships" id="258" r:id="Ra2270db565b8493d"/>
    <p:sldId xmlns:r="http://schemas.openxmlformats.org/officeDocument/2006/relationships" id="259" r:id="Rf86441a02a964876"/>
    <p:sldId xmlns:r="http://schemas.openxmlformats.org/officeDocument/2006/relationships" id="260" r:id="R5421241437674e43"/>
    <p:sldId xmlns:r="http://schemas.openxmlformats.org/officeDocument/2006/relationships" id="261" r:id="Rc9da776d5cd94caf"/>
    <p:sldId xmlns:r="http://schemas.openxmlformats.org/officeDocument/2006/relationships" id="262" r:id="R2b92a31d95a24e9f"/>
    <p:sldId xmlns:r="http://schemas.openxmlformats.org/officeDocument/2006/relationships" id="263" r:id="R6efc85849d314d6f"/>
    <p:sldId xmlns:r="http://schemas.openxmlformats.org/officeDocument/2006/relationships" id="264" r:id="R19d6df0bfe9b4834"/>
    <p:sldId xmlns:r="http://schemas.openxmlformats.org/officeDocument/2006/relationships" id="265" r:id="Ref9e101cfc414eb0"/>
    <p:sldId xmlns:r="http://schemas.openxmlformats.org/officeDocument/2006/relationships" id="266" r:id="Raeb8e26505dd41c6"/>
    <p:sldId xmlns:r="http://schemas.openxmlformats.org/officeDocument/2006/relationships" id="267" r:id="R6b230d6af6e1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b564e3e020485c" /><Relationship Type="http://schemas.openxmlformats.org/officeDocument/2006/relationships/slideMaster" Target="/ppt/slideMasters/slideMaster1.xml" Id="R5d82c471fb0c4763" /><Relationship Type="http://schemas.openxmlformats.org/officeDocument/2006/relationships/notesMaster" Target="/ppt/notesMasters/notesMaster1.xml" Id="R32dd5d1266da430e" /><Relationship Type="http://schemas.openxmlformats.org/officeDocument/2006/relationships/presProps" Target="/ppt/presProps.xml" Id="R7ef9bd8b607f4cfc" /><Relationship Type="http://schemas.openxmlformats.org/officeDocument/2006/relationships/tableStyles" Target="/ppt/tableStyles.xml" Id="R82787e040d39452e" /><Relationship Type="http://schemas.openxmlformats.org/officeDocument/2006/relationships/slide" Target="/ppt/slides/slide1.xml" Id="R5603f10206764c5a" /><Relationship Type="http://schemas.openxmlformats.org/officeDocument/2006/relationships/slide" Target="/ppt/slides/slide2.xml" Id="R0a8d245ad2784d14" /><Relationship Type="http://schemas.openxmlformats.org/officeDocument/2006/relationships/slide" Target="/ppt/slides/slide3.xml" Id="Ra2270db565b8493d" /><Relationship Type="http://schemas.openxmlformats.org/officeDocument/2006/relationships/slide" Target="/ppt/slides/slide4.xml" Id="Rf86441a02a964876" /><Relationship Type="http://schemas.openxmlformats.org/officeDocument/2006/relationships/slide" Target="/ppt/slides/slide5.xml" Id="R5421241437674e43" /><Relationship Type="http://schemas.openxmlformats.org/officeDocument/2006/relationships/slide" Target="/ppt/slides/slide6.xml" Id="Rc9da776d5cd94caf" /><Relationship Type="http://schemas.openxmlformats.org/officeDocument/2006/relationships/slide" Target="/ppt/slides/slide7.xml" Id="R2b92a31d95a24e9f" /><Relationship Type="http://schemas.openxmlformats.org/officeDocument/2006/relationships/slide" Target="/ppt/slides/slide8.xml" Id="R6efc85849d314d6f" /><Relationship Type="http://schemas.openxmlformats.org/officeDocument/2006/relationships/slide" Target="/ppt/slides/slide9.xml" Id="R19d6df0bfe9b4834" /><Relationship Type="http://schemas.openxmlformats.org/officeDocument/2006/relationships/slide" Target="/ppt/slides/slide10.xml" Id="Ref9e101cfc414eb0" /><Relationship Type="http://schemas.openxmlformats.org/officeDocument/2006/relationships/slide" Target="/ppt/slides/slide11.xml" Id="Raeb8e26505dd41c6" /><Relationship Type="http://schemas.openxmlformats.org/officeDocument/2006/relationships/slide" Target="/ppt/slides/slide12.xml" Id="R6b230d6af6e1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d16089bf5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80f5066434ca5" /><Relationship Type="http://schemas.openxmlformats.org/officeDocument/2006/relationships/notesMaster" Target="/ppt/notesMasters/notesMaster1.xml" Id="Racc4c663577e4e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5096adbb6c4f63" /><Relationship Type="http://schemas.openxmlformats.org/officeDocument/2006/relationships/notesMaster" Target="/ppt/notesMasters/notesMaster1.xml" Id="Raebfb1c56e6041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26fa0292a241cf" /><Relationship Type="http://schemas.openxmlformats.org/officeDocument/2006/relationships/notesMaster" Target="/ppt/notesMasters/notesMaster1.xml" Id="Rf00db4c0fd49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6a5d61e904436" /><Relationship Type="http://schemas.openxmlformats.org/officeDocument/2006/relationships/notesMaster" Target="/ppt/notesMasters/notesMaster1.xml" Id="Rf27b190214024c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48fe14a3fb4650" /><Relationship Type="http://schemas.openxmlformats.org/officeDocument/2006/relationships/notesMaster" Target="/ppt/notesMasters/notesMaster1.xml" Id="Rcb411b55d73c42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0a2baf8f7493f" /><Relationship Type="http://schemas.openxmlformats.org/officeDocument/2006/relationships/notesMaster" Target="/ppt/notesMasters/notesMaster1.xml" Id="R6da57ff6e5f843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98fa3db5a4592" /><Relationship Type="http://schemas.openxmlformats.org/officeDocument/2006/relationships/notesMaster" Target="/ppt/notesMasters/notesMaster1.xml" Id="Rfd7411190b93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6e95a1df541a6" /><Relationship Type="http://schemas.openxmlformats.org/officeDocument/2006/relationships/notesMaster" Target="/ppt/notesMasters/notesMaster1.xml" Id="R3664c4570a16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7bbad9e5ad4a1a" /><Relationship Type="http://schemas.openxmlformats.org/officeDocument/2006/relationships/notesMaster" Target="/ppt/notesMasters/notesMaster1.xml" Id="R4d917b5cefde45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96576983fe450a" /><Relationship Type="http://schemas.openxmlformats.org/officeDocument/2006/relationships/notesMaster" Target="/ppt/notesMasters/notesMaster1.xml" Id="R134b3df18a124d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678e702ef742a8" /><Relationship Type="http://schemas.openxmlformats.org/officeDocument/2006/relationships/notesMaster" Target="/ppt/notesMasters/notesMaster1.xml" Id="R9d281526b21b44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12e7244d714ac0" /><Relationship Type="http://schemas.openxmlformats.org/officeDocument/2006/relationships/notesMaster" Target="/ppt/notesMasters/notesMaster1.xml" Id="Ree6955a876ce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1c86a813f45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fa48fd462c42c6" /><Relationship Type="http://schemas.openxmlformats.org/officeDocument/2006/relationships/slideLayout" Target="/ppt/slideLayouts/slideLayout1.xml" Id="R1b40b9a5add7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0b9a5add7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d7f0d9c094330" /><Relationship Type="http://schemas.openxmlformats.org/officeDocument/2006/relationships/notesSlide" Target="/ppt/notesSlides/notesSlide1.xml" Id="R0c7b63427230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9cb08602b4400" /><Relationship Type="http://schemas.openxmlformats.org/officeDocument/2006/relationships/notesSlide" Target="/ppt/notesSlides/notesSlide2.xml" Id="Rcded6299300a4b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7e1f7b4a1485f" /><Relationship Type="http://schemas.openxmlformats.org/officeDocument/2006/relationships/notesSlide" Target="/ppt/notesSlides/notesSlide3.xml" Id="R90aed473413642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21001b2a641ce" /><Relationship Type="http://schemas.openxmlformats.org/officeDocument/2006/relationships/notesSlide" Target="/ppt/notesSlides/notesSlide4.xml" Id="R39336ebe1fb34e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8c78a4f174241" /><Relationship Type="http://schemas.openxmlformats.org/officeDocument/2006/relationships/notesSlide" Target="/ppt/notesSlides/notesSlide5.xml" Id="R235c83a9984d46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fd9b946f4298" /><Relationship Type="http://schemas.openxmlformats.org/officeDocument/2006/relationships/notesSlide" Target="/ppt/notesSlides/notesSlide6.xml" Id="Rc2736233bae9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726bcab54c85" /><Relationship Type="http://schemas.openxmlformats.org/officeDocument/2006/relationships/notesSlide" Target="/ppt/notesSlides/notesSlide7.xml" Id="Ra04bdf05a2f047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b5c6839154822" /><Relationship Type="http://schemas.openxmlformats.org/officeDocument/2006/relationships/notesSlide" Target="/ppt/notesSlides/notesSlide8.xml" Id="R7c512bb85d7f45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e539b82d34f27" /><Relationship Type="http://schemas.openxmlformats.org/officeDocument/2006/relationships/notesSlide" Target="/ppt/notesSlides/notesSlide9.xml" Id="R7fdfad8f6145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01637ff9e4b87" /><Relationship Type="http://schemas.openxmlformats.org/officeDocument/2006/relationships/notesSlide" Target="/ppt/notesSlides/notesSlide10.xml" Id="R5e7e3cf1ef3e4a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c35174ca84201" /><Relationship Type="http://schemas.openxmlformats.org/officeDocument/2006/relationships/notesSlide" Target="/ppt/notesSlides/notesSlide11.xml" Id="R9cafcbd6682547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554f38e04cb5" /><Relationship Type="http://schemas.openxmlformats.org/officeDocument/2006/relationships/notesSlide" Target="/ppt/notesSlides/notesSlide12.xml" Id="R47cf126edcab4d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13453-0577-4A7B-ACE9-E48F063F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ARCHITECTURE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83E2D-6761-424A-8DE4-011B565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0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Autonomous review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0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service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55C9-0285-4502-B1D7-962386DD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9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Three implementation plans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E77CF-592C-4AAE-842C-FA69A58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24A8D-6951-4754-B542-15FAAC6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Document review, analysis, and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evidence-backed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4C3BA-58A1-42E0-A158-C9269CB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BE5DE-9792-49CD-933F-7CADFF6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Standalone execution without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human intervention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3DDB8-E370-4078-917C-7F840113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57300"/>
            <a:ext cx="2905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2095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Static controlled graph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Predefined workflow of analysis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1E95-5E3C-4207-979D-56E3B732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76525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209550" tIns="171450" rIns="171450" bIns="171450" anchor="ctr">
            <a:normAutofit fontScale="866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 and specialist subagents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 calls registered specialists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D892D-A01D-40F9-98DA-A5F298BA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2905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2095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Single ReAct agent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One agent with tools and 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46933-0430-44F0-9863-C2B77522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2095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Evidence-backed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58250" y="1757363"/>
            <a:ext cx="666750" cy="1457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858250" y="3214688"/>
            <a:ext cx="666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858250" y="3214688"/>
            <a:ext cx="666750" cy="1485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BDDD-6BAA-46F1-8FBB-C18AD19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92691-F539-481C-8508-292AD41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6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22 September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AA2D4-9966-4EC3-A203-EFA5266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6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data_agent</a:t>
            </a:r>
          </a:p>
        </p:txBody>
      </p:sp>
    </p:spTree>
    <p:extLst>
      <p:ext uri="{BB962C8B-B14F-4D97-AF65-F5344CB8AC3E}">
        <p14:creationId xmlns:p14="http://schemas.microsoft.com/office/powerpoint/2010/main" val="725096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A89E30AE-31B0-40CF-A88F-B00286F0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plans target the same review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C1A75-3865-4878-BCA5-7966C597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66850"/>
            <a:ext cx="292417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9CD66-4F86-4022-8EC6-8772150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66850"/>
            <a:ext cx="2924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solidFill>
              <a:srgbClr val="EEF4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C5D6C-9111-4A65-A113-23F785F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14475"/>
            <a:ext cx="2581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3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Shared review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47E64-FE7B-4FE9-B1B9-ED413609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2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All plans use the same ReviewService contract and produce the same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AF439-4610-4354-BF6B-40E9C20A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Reviewed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7A379-E490-4DCF-8DC0-32488FD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Domain analysis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5877-68BB-4406-898D-2CAD1A76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767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Validated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70F12-CC43-4825-87AA-8BCC5F9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672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Typed artifact bundle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2BCF0-0A89-4C2D-911D-1CDC9A95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763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7C5D9-DBC4-41E9-B56F-AA4B192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76350"/>
            <a:ext cx="1200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A8750-9070-4D2B-966C-A0E5AA4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BD3F8-AEF0-44B6-AA04-806EAFB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Static controlled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2C708-E714-4001-B781-9748C1B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Predefined workflow: intake, analysis, investigation, evidence validation, result generation</a:t>
            </a:r>
          </a:p>
        </p:txBody>
      </p: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8172450" y="1905000"/>
            <a:ext cx="733425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321E7-246D-4ACF-A385-4C5B006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622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5BA08-A4DA-4889-9D9C-A93FF66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62250"/>
            <a:ext cx="1200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3A758-9893-4061-B7D9-CC2E4F6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F2648-AF8E-4E89-BDB8-97D31068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432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 and specialist subagents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B18EF-4187-4322-AF9C-808ACFF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 plans the investigation and calls registered domain, model, and evidence specialists</a:t>
            </a:r>
          </a:p>
        </p:txBody>
      </p:sp>
      <p:cxnSp>
        <p:nvCxnSpPr>
          <p:cNvPr id="56" name=""/>
          <p:cNvCxnSpPr>
            <a:stCxn xmlns:a="http://schemas.openxmlformats.org/drawingml/2006/main" id="16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8172450" y="3390900"/>
            <a:ext cx="73342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8D387-C503-4D41-8568-1C675DF2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48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DF6CB-4D95-41C9-A3A1-4DC0F31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48150"/>
            <a:ext cx="1200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35507-5E5E-45F1-92AF-85F7ABD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3C38C-B45C-4371-BB6E-31BE4B4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Single ReAct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168AF-6A64-4AEB-AE6D-A37FDF6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One bounded agent plans, acts, observes, and refines until the review is complete</a:t>
            </a:r>
          </a:p>
        </p:txBody>
      </p:sp>
      <p:cxnSp>
        <p:nvCxnSpPr>
          <p:cNvPr id="62" name=""/>
          <p:cNvCxnSpPr>
            <a:stCxn xmlns:a="http://schemas.openxmlformats.org/drawingml/2006/main" id="22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8172450" y="3429000"/>
            <a:ext cx="733425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53851-AA7D-4FE4-AA5C-B65DDF1E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43600"/>
            <a:ext cx="1146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66B55-0327-47E7-8DB0-DA8BFDE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007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Review documents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62104-1DF5-41E4-BFD5-BA7F20A0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0293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8EA55-7271-4C36-B9CC-8726A772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60007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Run domain 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C616E-C56E-46A9-9804-9BFDBCE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293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7758E-2A67-4CE4-8556-E7042980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007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Generate evidence-backed results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12470-8CC6-4D0C-BD43-DCE835D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0293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C5C08-5D10-4DD5-9CFB-A1D27BF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0007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Different orchestration models</a:t>
            </a:r>
          </a:p>
        </p:txBody>
      </p:sp>
    </p:spTree>
    <p:extLst>
      <p:ext uri="{BB962C8B-B14F-4D97-AF65-F5344CB8AC3E}">
        <p14:creationId xmlns:p14="http://schemas.microsoft.com/office/powerpoint/2010/main" val="2025184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BF21C4D0-A7AA-4008-84BD-B37BD00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shared contract keeps the comparison consistent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5D313-3771-4EF2-86E3-448602A6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95400"/>
            <a:ext cx="2076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9FA3-09FF-4244-BD82-E3E3ACCB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9540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DD7E6-6E45-4B7B-B925-73A1E4D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4000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538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1F2C-5274-4637-AB74-C7B69D6C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138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Immutable manifest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608D7-169A-4D49-BCC2-50FA7C11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733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Accept heterogeneous documents and create an immutable source manifest.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0D34-8631-4FB0-AF06-71C88E9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95400"/>
            <a:ext cx="2076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4B69C-BFF7-49E8-9D10-E9338960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9540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0398B-7EB8-4DCA-871C-7F186E0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0175"/>
            <a:ext cx="4000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538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F63D6-15B3-41AC-8E51-D2D8BF5E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52550"/>
            <a:ext cx="138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Guarded read-only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16320-DB47-4451-B870-6E7B8425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733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Use controlled source access through DocumentAdapter.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4DE82-636A-42DC-B134-CCBE160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95400"/>
            <a:ext cx="2076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BECEE-749E-4A9F-983E-2D6EDA0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9540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A4EB4-8D0E-496A-82F9-F411FE0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400175"/>
            <a:ext cx="4000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538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10EAC-C7EC-473F-A158-774CD6A4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52550"/>
            <a:ext cx="138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4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Mandatory domain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010C4-C090-4655-A912-6463BD9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95500"/>
            <a:ext cx="1733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 every required deterministic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27223-CFEB-4914-9E13-B414AA5A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295400"/>
            <a:ext cx="2076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3AE1A-A922-470C-85E5-31572D7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29540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13AE5-88FE-4247-981A-FC0755B3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0175"/>
            <a:ext cx="4000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538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6A606-CCE6-43B0-99B3-69803F3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52550"/>
            <a:ext cx="138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Bounded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6B743-8B6C-45B2-AFE8-C090C99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95500"/>
            <a:ext cx="1733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Limit calls, retries, concurrency, duration, and result size.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AB67F-90F3-435B-ADF9-37F2181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95400"/>
            <a:ext cx="2076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DB1D3-CFB6-4FCA-B770-B91197E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9540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C9533-7815-4D04-B266-3632809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400175"/>
            <a:ext cx="4000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538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C4E0A-4C7B-4BE0-8389-4488714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52550"/>
            <a:ext cx="138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artifact bundle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C4520-14BB-4068-BCE3-D14B9CB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95500"/>
            <a:ext cx="1733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Validate coverage and evidence before publication.</a:t>
            </a:r>
          </a:p>
        </p:txBody>
      </p:sp>
      <p:cxnSp>
        <p:nvCxnSpPr>
          <p:cNvPr id="74" name=""/>
          <p:cNvCxnSpPr>
            <a:stCxn xmlns:a="http://schemas.openxmlformats.org/drawingml/2006/main" id="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6574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72025" y="26574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05650" y="26574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39275" y="26574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04BED-3AC0-46F8-BB87-DB6FE5D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7239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F5B9C-3147-4ED3-B043-3CF3FD9B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67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Supported document formats (8)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CFC20-C41E-48A2-A57A-9E38B6E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63F51-62CC-4BE3-A598-29CFC58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XLSX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3705F-8E77-4B0B-A5BD-48BF98A6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XLSM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412A4-710A-4E45-AA56-88ED640E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Parquet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E1A4EF-FA36-4128-A47A-EE893309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34AAB9-06FC-43F8-92AA-EFEC68A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DOCX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10EB35-F445-44DE-91A3-8E289E8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D96FDE-E61A-446C-B8A7-C6EBCB9A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F12B37-A490-42C3-8418-533CA55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ReviewService interface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162B8D-8FD3-4A4B-B0CD-65B7A9EF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ReviewService.start(...), resume(...), status(...)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FCD19C-0301-4C19-99BC-1A4429C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3962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468C07-3330-4E00-AC8D-17BF44E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Review 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100EB6-2162-4529-BB05-3CFCCDF1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2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31A73E-283A-48AB-B509-527E7006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2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completed_with_warnings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96C11D-F2B5-45E6-854A-5A001A4E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959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2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</p:spTree>
    <p:extLst>
      <p:ext uri="{BB962C8B-B14F-4D97-AF65-F5344CB8AC3E}">
        <p14:creationId xmlns:p14="http://schemas.microsoft.com/office/powerpoint/2010/main" val="1429584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DF4A11CE-4481-4653-943A-A12767E0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1 · STATIC CONTROLLED GRAPH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CA39D7-0E75-4F4B-9384-5F87DFD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1 uses a static controlled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D6826-9FED-4BDD-89F2-79AB66A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0"/>
            <a:ext cx="1381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and routing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C2236-144D-4E98-82F6-3E98A9E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71625"/>
            <a:ext cx="3714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A20E8-C6B8-49D7-8673-F898A2C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Parallel specialists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03ECA-B1E9-4B9B-BB26-460F98D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Deterministic skill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49705-E8C1-4929-8173-9DC5ECE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Bounded ReAct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63347-34E5-41AC-974D-3B48AE5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Adversarial review and omission checks</a:t>
            </a:r>
          </a:p>
        </p:txBody>
      </p: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743075" y="2638425"/>
            <a:ext cx="9429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43075" y="3190875"/>
            <a:ext cx="942975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43075" y="3190875"/>
            <a:ext cx="942975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E828C-6BB0-40F4-9171-A1F1C8F8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 gates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Reopen cited spans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162550" y="2638425"/>
            <a:ext cx="93345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162550" y="3190875"/>
            <a:ext cx="93345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162550" y="3190875"/>
            <a:ext cx="93345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25676-F110-4943-86FC-C6DE900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1190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Lead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59D1E-0635-452C-BD76-9088C4E9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76500"/>
            <a:ext cx="1190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16E46-D622-49C8-B0C9-4576F65B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76500"/>
            <a:ext cx="1295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Atomic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24750" y="3190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24925" y="3190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325100" y="3190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08F7A-4333-48B2-9DEF-045B1FCF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53100"/>
            <a:ext cx="1146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8AABA-8CC6-4209-8456-9975EA92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Typed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C623A-3E04-43D5-8B40-9EC5B93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8388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01FBF-CD5E-4D3F-8A36-E5347F8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8102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Reducers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8E729-A052-40FC-BC89-0EAFD247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388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0209B-A33C-4800-B168-269450B6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02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Checkpoints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7FFCE-A81F-4BD9-8AAA-31070E5D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8388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AE9C6-CA3E-419D-B7DA-6F08CBF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8102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Replay policy</a:t>
            </a:r>
          </a:p>
        </p:txBody>
      </p:sp>
    </p:spTree>
    <p:extLst>
      <p:ext uri="{BB962C8B-B14F-4D97-AF65-F5344CB8AC3E}">
        <p14:creationId xmlns:p14="http://schemas.microsoft.com/office/powerpoint/2010/main" val="514907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D3AD9428-BED4-4CBE-9EAC-7264ABE5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2 · SUPERVISOR AND SPECIALIST SUBAGENTS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C7C9A3-8762-458F-A2B1-53B6EB18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2 delegates through a supervisor tool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E2C2D-20D2-421A-AE98-E14BF8D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24000"/>
            <a:ext cx="2714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9D802-1464-490A-AFE5-A15710D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24000"/>
            <a:ext cx="2714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solidFill>
              <a:srgbClr val="EEF4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B15CF-1E16-4B7F-BFEA-05CBB3F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37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Deterministic shell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91416-BABD-42DA-B0D4-24AC540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431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Task ledger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87372-4E66-4302-A464-C71803C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242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Source assignments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272F-97B1-449F-860D-8CC86A8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05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 budgets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645D3-3567-46C0-A288-3D4B76A3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755A1-9F8F-4942-91F9-69A7843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E04F4-36D7-48BE-B1E1-D7E71FD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71625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 ReAct agent</a:t>
            </a:r>
          </a:p>
        </p:txBody>
      </p: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6575" y="32194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1D735-2676-4F89-8293-95F86260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62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Plans the investigation and calls one registered specialist.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5C5FD-CA47-438D-B37B-B0328EC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run_specialist(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  specialist_name,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  task_id,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  source_ids,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  objective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94EE6-C289-41CE-A7E7-F5435BE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Risk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E1D7F-EBA0-462D-9BB1-1E49AFF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PnL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40781-52C7-4A1D-95CC-105C002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BE8B-94F5-4F0B-A809-9DDF22A4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67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Commentary</a:t>
            </a:r>
          </a:p>
        </p:txBody>
      </p:sp>
      <p:cxnSp>
        <p:nvCxnSpPr>
          <p:cNvPr id="4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429500" y="1800225"/>
            <a:ext cx="1905000" cy="1985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429500" y="2581275"/>
            <a:ext cx="1905000" cy="1204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29500" y="3362325"/>
            <a:ext cx="1905000" cy="423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3786188"/>
            <a:ext cx="190500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276CE-F341-413F-9E3E-1979FF9F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91150"/>
            <a:ext cx="766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Typed SpecialistResult envelopes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B2004-5190-47C4-93EA-285A9CA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91150"/>
            <a:ext cx="3276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Coverage and evidence validator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9E8F7-6BF7-4516-8078-884A9288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693A4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29575" y="57816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693A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36244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003F6713-A322-4330-921B-2E7061D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2 · SPECIALIST SETUP AND EXECUTION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890EE3-CF7B-46C6-903B-FEE88815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Host policy defines every specialist before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C4014-F74C-4135-8DE9-3C1FA34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6019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3231C-308C-4B74-9EB6-CD2861C5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601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993FE-EA08-4BD9-880C-0AEF1A2E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SpecialistSpec blueprint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B6676-28C1-4877-A5D8-9CAA36F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BA5A1-13E1-45C4-BEDF-627AEA6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0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Trusted name, instructions, one domain skill, result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D0C26-4740-42D4-92BC-95A5C74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Source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C55F8-EAA0-41F1-80EB-84947D8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09875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Assignment ledger and approved source_ids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006F6-93B4-4D39-B4D8-E41FB292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Assigned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73900-D938-494B-B938-951F45C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Allowlisted read-only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6C5ED-C02F-43D0-A17B-90AB076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89E4F-A339-4922-B683-746088F0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10025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Fresh context, model and tool budgets, timeout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19F75-4719-4916-836D-1D894C29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Typed 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2528B-9490-4EB5-A70E-92DFC15C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1010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SpecialistResult: receipts, findings, evidence, warnings, usage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DCE44-1A07-42B9-B255-CE289028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28750"/>
            <a:ext cx="5200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2C41E-5606-44A0-8AA9-1DB5267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28750"/>
            <a:ext cx="520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1360D-2C93-456B-B634-AD8C4F22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76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Host-controlled 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FBDD4-D87A-461C-8358-D1D5DA35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C8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Validate task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Check registered specialist and assigned source_ids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0C346-7117-4A63-AC73-42F18E90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C8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Reserve slot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Apply concurrency and task budget</a:t>
            </a:r>
          </a:p>
        </p:txBody>
      </p:sp>
      <p:cxnSp>
        <p:nvCxnSpPr>
          <p:cNvPr id="50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229725" y="28003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10007-248C-4A51-B1BB-2ED3E1E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C8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Run child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Fresh context with fixed tools and timeout</a:t>
            </a:r>
          </a:p>
        </p:txBody>
      </p:sp>
      <p:cxnSp>
        <p:nvCxnSpPr>
          <p:cNvPr id="52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229725" y="35433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A931E-0E4F-4C4F-95F6-F11BDC8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4705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91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C8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Return envelope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Emit typed SpecialistResult to the supervisor</a:t>
            </a:r>
          </a:p>
        </p:txBody>
      </p:sp>
      <p:cxnSp>
        <p:nvCxnSpPr>
          <p:cNvPr id="54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229725" y="42862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7932E-AC0D-4EA9-85BB-9F7AC226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67400"/>
            <a:ext cx="1146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00913-5637-4651-9D35-8363B64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task_id = idempotency key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4AEFA-11BD-4179-90F0-B9DA5B0C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531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FCF04-98B6-4B2E-BC0E-82FEAC61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24550"/>
            <a:ext cx="558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No nested delegation</a:t>
            </a:r>
          </a:p>
        </p:txBody>
      </p:sp>
    </p:spTree>
    <p:extLst>
      <p:ext uri="{BB962C8B-B14F-4D97-AF65-F5344CB8AC3E}">
        <p14:creationId xmlns:p14="http://schemas.microsoft.com/office/powerpoint/2010/main" val="1274840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CFF7B068-2F06-462B-99CA-93DC73E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3 · SINGLE REACT AGENT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E7D3D1-5E2C-4D11-893C-3CBDC19E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9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 3 combines planning and execution in one ReAct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84304-72E2-43C8-BE8D-CFC1A0D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Mandatory domain analyses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 by code before the model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2AC2-2A3D-43DE-AD9C-717808B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717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Validated artifact bundle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Published by code after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2BAD7-4371-4D2A-A1D2-740890D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6286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44BC5-3ADB-4310-B3D2-9503A8FC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00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7C8"/>
                </a:solidFill>
                <a:latin typeface="Arial"/>
                <a:ea typeface="Arial"/>
                <a:cs typeface="Arial"/>
              </a:rPr>
              <a:t>HOST-CONTROLLED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3B442-3A88-4624-A957-D17D17C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19300"/>
            <a:ext cx="17145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75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Manifest and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AF95A-37E7-40E8-93B6-A266108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7145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84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Read 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analysis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9C6B7-4FE4-413A-AF05-F980658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48125"/>
            <a:ext cx="17145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Structured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4D57F-DFFC-4725-8D1B-8F6254C4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17145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1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Coverage and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 gate</a:t>
            </a:r>
          </a:p>
        </p:txBody>
      </p:sp>
      <p:cxnSp>
        <p:nvCxnSpPr>
          <p:cNvPr id="32" name=""/>
          <p:cNvCxnSpPr>
            <a:stCxn xmlns:a="http://schemas.openxmlformats.org/drawingml/2006/main" id="7" idx="6"/>
            <a:endCxn xmlns:a="http://schemas.openxmlformats.org/drawingml/2006/main" id="8" idx="0"/>
          </p:cNvCxnSpPr>
          <p:nvPr/>
        </p:nvCxnSpPr>
        <p:spPr>
          <a:xfrm xmlns:a="http://schemas.openxmlformats.org/drawingml/2006/main" rot="16200000" flipH="1">
            <a:off x="7069931" y="2307431"/>
            <a:ext cx="576263" cy="904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4"/>
            <a:endCxn xmlns:a="http://schemas.openxmlformats.org/drawingml/2006/main" id="9" idx="6"/>
          </p:cNvCxnSpPr>
          <p:nvPr/>
        </p:nvCxnSpPr>
        <p:spPr>
          <a:xfrm xmlns:a="http://schemas.openxmlformats.org/drawingml/2006/main" rot="5400000">
            <a:off x="7084219" y="3774281"/>
            <a:ext cx="547688" cy="904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2"/>
            <a:endCxn xmlns:a="http://schemas.openxmlformats.org/drawingml/2006/main" id="10" idx="4"/>
          </p:cNvCxnSpPr>
          <p:nvPr/>
        </p:nvCxnSpPr>
        <p:spPr>
          <a:xfrm xmlns:a="http://schemas.openxmlformats.org/drawingml/2006/main" rot="16200000" flipH="1">
            <a:off x="4488656" y="3798094"/>
            <a:ext cx="547688" cy="857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rot="5400000">
            <a:off x="4474369" y="2331244"/>
            <a:ext cx="576263" cy="857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2505075" y="3286125"/>
            <a:ext cx="9715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6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667750" y="3286125"/>
            <a:ext cx="101917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77C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2B9DB-8DDD-4D13-99DF-C8CB433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764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Model-call 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24EEE-835D-48E8-B2B9-C67419CD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Tool-call limit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AE6AD-DBF2-4745-A88E-DC4D12C8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86909-3B83-4791-91BF-B2622D6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148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6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Structured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7FF2A-FA50-4EF8-AFAD-C307270C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53100"/>
            <a:ext cx="1146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One agent sees the assigned-source catalog. Middleware bounds calls, context, retries, duration, and result size.</a:t>
            </a:r>
          </a:p>
        </p:txBody>
      </p:sp>
    </p:spTree>
    <p:extLst>
      <p:ext uri="{BB962C8B-B14F-4D97-AF65-F5344CB8AC3E}">
        <p14:creationId xmlns:p14="http://schemas.microsoft.com/office/powerpoint/2010/main" val="2065873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">
            <a:extLst xmlns:a="http://schemas.openxmlformats.org/drawingml/2006/main">
              <a:ext uri="{FF2B5EF4-FFF2-40B4-BE49-F238E27FC236}">
                <a16:creationId xmlns:a16="http://schemas.microsoft.com/office/drawing/2014/main" id="{EA5530D1-D0E0-4EF0-92F6-CFEED354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SHARED CAPABILITY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1614C0-BDB2-4892-9AE8-3CEF2613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Tools, skills, and adapters have separate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45CAE-9374-42F3-975D-1A7F4FF2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146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919C-5605-4533-832F-4AB8E46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146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4A0B4-4912-424F-B8ED-9243F240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80655-D99B-484C-817E-DE0471A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 define domain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D9B26-76D5-4671-8FF7-EE875F1E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risk-metrics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DCDF-6CD2-4954-A488-23E97EDC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DD690-D9C4-4DFE-BCA6-8E9F5A6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621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post-trade-controls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DD472-D6F5-4125-8BE1-09AAC522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risk-commentary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43615-904E-43EA-87F1-CB4C4510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lead-review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974BB-852C-4EA4-BD64-66D97F4D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47950"/>
            <a:ext cx="1146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8666C-44A2-4FBF-9099-43108A3B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47950"/>
            <a:ext cx="1146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solidFill>
              <a:srgbClr val="EEF4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0146E-0BD8-469C-91F0-187475D4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BOUNDED COMMAND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C8638-F796-4B4F-8F0E-5A858E2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95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Tools perform bounded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4D2A6-C493-4609-8993-A10783A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3A768-715D-4F4C-AE49-AC155BED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table reading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286EB-33D4-4930-9055-1D20714A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aggregation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DE96B-D76B-4987-9C21-F08375C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joins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98B7B-7051-4EBD-B25C-EC8F1538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bounded DuckDB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9113A-B11E-43B8-956A-815EC82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text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8A5D1-0036-41FB-9D8C-EA91733E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5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 reopening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7AD74-6A3C-4DE9-9C8B-558626E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813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statistics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7808A-A228-413E-B234-9BE0DE90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67150"/>
            <a:ext cx="1146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030E9-11CF-4ACC-B5DC-6AE14D0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67150"/>
            <a:ext cx="1146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solidFill>
              <a:srgbClr val="EEF4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5C281-3004-4EA4-A996-D9AD5DF5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DOCUMENT ADAPTERS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0FC9E-3D96-4AE2-B73C-5D06FE3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Adapters handle formats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D02C9-E10B-4467-8E56-AE0E809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DocumentAdapter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06F864-A372-4215-8D7B-E044323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profile formats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165DE-D9D6-4C1F-AFEF-1E35B9D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build source 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8BD94-0CC4-464E-A291-2F8557F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005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reopen cited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C821A-9D61-4DF6-937A-AA75272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81600"/>
            <a:ext cx="1146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A1B53-7595-40AE-BB7C-273C07E5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LEAST-PRIVILEGE ROLE CAPABILITIES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0ACD1-61AF-47E4-A009-7B750164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run_specialist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BE94B-7EF8-44C2-B2AE-DC0506C6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435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8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one domain skill and assigned-source tools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80DF0-DB83-4CA9-ABEE-6A658FC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524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491D4-54A7-46C3-AFC0-4158196B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435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08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CHALLENGER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verified findings and bounded challenge tools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48676B-8BF0-4FE1-AD55-082C4054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524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E7BC5D-9EBE-4016-920C-5D59DCFE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435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LEAD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verified reports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3E63B-DD4D-4E2E-AFD7-706AD71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24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D81236-8287-4EC8-BFC1-80382DD8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29350"/>
            <a:ext cx="1146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No arbitrary filesystem, process, Python, network, or direct publication access.</a:t>
            </a:r>
          </a:p>
        </p:txBody>
      </p:sp>
    </p:spTree>
    <p:extLst>
      <p:ext uri="{BB962C8B-B14F-4D97-AF65-F5344CB8AC3E}">
        <p14:creationId xmlns:p14="http://schemas.microsoft.com/office/powerpoint/2010/main" val="1741304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97057F-1310-468A-82AE-E062BD05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three plans divide orchestration work differently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361950" y="1257300"/>
          <a:ext xmlns:a="http://schemas.openxmlformats.org/drawingml/2006/main" cx="11468100" cy="497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81201"/>
                <a:gridCol w="3219697"/>
                <a:gridCol w="2981201"/>
              </a:tblGrid>
              <a:tr h="6215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marL="95250" marR="95250" marT="76200" marB="7620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controlled graph</a:t>
                      </a:r>
                    </a:p>
                  </a:txBody>
                  <a:tcPr marL="95250" marR="95250" marT="76200" marB="76200" anchor="ctr">
                    <a:solidFill>
                      <a:srgbClr val="007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Supervisor and specialist subagents</a:t>
                      </a:r>
                    </a:p>
                  </a:txBody>
                  <a:tcPr marL="95250" marR="95250" marT="76200" marB="76200" anchor="ctr">
                    <a:solidFill>
                      <a:srgbClr val="007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Single ReAct agent</a:t>
                      </a:r>
                    </a:p>
                  </a:txBody>
                  <a:tcPr marL="95250" marR="95250" marT="76200" marB="76200" anchor="ctr">
                    <a:solidFill>
                      <a:srgbClr val="0077C8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Orchestration owner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Graph nodes and routing code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Supervisor model plus host shell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One agent loop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Source assignment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Deterministic graph routing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Ledger-backed tool calls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Complete manifest in one context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Specialist isolation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Separate branch state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Fresh child context per call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Shared context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Evidence checks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Specialist and final graph gates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Child envelope and final gate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Post-loop final gate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Parallel execution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Explicit graph fan-out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Concurrent child tool calls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Provider-dependent tool calls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Checkpoint unit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Named workflow stage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Supervisor and child task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Agent-loop state</a:t>
                      </a:r>
                    </a:p>
                  </a:txBody>
                  <a:tcPr marL="95250" marR="95250" marT="57150" marB="57150" anchor="ctr">
                    <a:solidFill>
                      <a:srgbClr val="EEF4F7"/>
                    </a:solidFill>
                  </a:tcPr>
                </a:tc>
              </a:tr>
              <a:tr h="62150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Core engineering work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State, reducers, and node replay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Registry, child lifecycle, and idempotency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051C2C"/>
                          </a:solidFill>
                          <a:latin typeface="Arial"/>
                          <a:ea typeface="Arial"/>
                          <a:cs typeface="Arial"/>
                        </a:rPr>
                        <a:t>Context, tool selection, and loop limits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03067-C6B1-4155-B754-A2ED768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Same source and result contract.</a:t>
            </a:r>
          </a:p>
        </p:txBody>
      </p:sp>
    </p:spTree>
    <p:extLst>
      <p:ext uri="{BB962C8B-B14F-4D97-AF65-F5344CB8AC3E}">
        <p14:creationId xmlns:p14="http://schemas.microsoft.com/office/powerpoint/2010/main" val="1638443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title">
            <a:extLst xmlns:a="http://schemas.openxmlformats.org/drawingml/2006/main">
              <a:ext uri="{FF2B5EF4-FFF2-40B4-BE49-F238E27FC236}">
                <a16:creationId xmlns:a16="http://schemas.microsoft.com/office/drawing/2014/main" id="{B43B3FEE-ACBE-4FF3-BFE3-AA9AFB27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Runtime follows the orchestration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72B79-F0E8-463A-98CB-52418AA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90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90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Conceptual runtime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E9A58-5E0D-43E0-9682-8884957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2395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79540-C5DA-4325-A901-DBCFB187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1468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555CD-0BAF-4E58-9645-F20D736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Static controlled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8E798-D4C7-4217-9BB8-B466586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5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280"/>
                </a:solidFill>
                <a:latin typeface="Arial"/>
                <a:ea typeface="Arial"/>
                <a:cs typeface="Arial"/>
              </a:rPr>
              <a:t>Stage-based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B8D4F-C171-405C-88B9-5F2841A0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A1F2E-6B25-4B83-9C8B-966B6E61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14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cxnSp>
        <p:nvCxnSpPr>
          <p:cNvPr id="7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56314" y="2009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1296-C3BA-4DFD-84DF-F073C9E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979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83678" y="2009775"/>
            <a:ext cx="114301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E7A41-18B2-4D51-B1F5-792672D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343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1043" y="2009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1CA61-C7F4-4265-A118-9A2210B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07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Synthesize</a:t>
            </a:r>
          </a:p>
        </p:txBody>
      </p:sp>
      <p:cxnSp>
        <p:nvCxnSpPr>
          <p:cNvPr id="7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38407" y="2009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25430-21D1-41E1-8D71-C9EAD02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071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cxnSp>
        <p:nvCxnSpPr>
          <p:cNvPr id="7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65771" y="2009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25297-1C0E-4631-855A-CAE8BFB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436" y="1771650"/>
            <a:ext cx="111306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94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Graph checkpoint</a:t>
            </a:r>
          </a:p>
        </p:txBody>
      </p:sp>
      <p:cxnSp>
        <p:nvCxnSpPr>
          <p:cNvPr id="81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393135" y="2009775"/>
            <a:ext cx="114301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6FAD5-48A7-459F-9652-0D1310A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24150"/>
            <a:ext cx="11468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4E82D-9D82-4DA1-89EC-55583F59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 and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 subagents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79F97-D9E5-4D20-A2EC-85DD63D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5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280"/>
                </a:solidFill>
                <a:latin typeface="Arial"/>
                <a:ea typeface="Arial"/>
                <a:cs typeface="Arial"/>
              </a:rPr>
              <a:t>Delegation-based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D6493-6FCF-40BB-B9DC-69047D2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3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Supervisor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plans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40923-19FB-46AF-9BD9-1062EE3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30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34148-9C59-4056-945D-CECF6DD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30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D4060-9EA0-4646-86A4-85CF3CFF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052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730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 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79C20-AB31-4BD2-8536-98998BBB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3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Aggregate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5C244-C4BE-4605-905A-07942A8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E82F1-AA30-4C8B-A3CA-1DB094B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94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Idempotent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task envelope</a:t>
            </a:r>
          </a:p>
        </p:txBody>
      </p: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4572000" y="2981325"/>
            <a:ext cx="64770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572250" y="29813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572000" y="3305175"/>
            <a:ext cx="64770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572250" y="3305175"/>
            <a:ext cx="8572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572000" y="3324225"/>
            <a:ext cx="64770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6572250" y="3324225"/>
            <a:ext cx="85725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648700" y="33242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096500" y="33242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EC109-D35D-485E-B45B-569EF78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11468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592F56-058A-438A-B2EA-3EFD4DB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Single ReAct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69A52C-BD78-47E4-AD66-B842FDE1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5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280"/>
                </a:solidFill>
                <a:latin typeface="Arial"/>
                <a:ea typeface="Arial"/>
                <a:cs typeface="Arial"/>
              </a:rPr>
              <a:t>Loop-based 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CD1734-5DFC-4F0A-AB47-742F6322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16040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Model thinks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A66B56-D915-40B7-8530-D30A048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4438650"/>
            <a:ext cx="16040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Tool acts</a:t>
            </a:r>
          </a:p>
        </p:txBody>
      </p:sp>
      <p:cxnSp>
        <p:nvCxnSpPr>
          <p:cNvPr id="10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4747260" y="4676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10380A-F815-4815-B56D-C6A9A154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870" y="4438650"/>
            <a:ext cx="16040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cxnSp>
        <p:nvCxnSpPr>
          <p:cNvPr id="107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465570" y="4676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4C671A-1319-4CA3-BD5D-E8AA41E7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4438650"/>
            <a:ext cx="16040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Stop decision</a:t>
            </a:r>
          </a:p>
        </p:txBody>
      </p:sp>
      <p:cxnSp>
        <p:nvCxnSpPr>
          <p:cNvPr id="109" name=""/>
          <p:cNvCxnSpPr>
            <a:stCxn xmlns:a="http://schemas.openxmlformats.org/drawingml/2006/main" id="44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183880" y="4676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9DF83-C301-4B33-A7A4-220D92AB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438650"/>
            <a:ext cx="16040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0077C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Agent-loop state</a:t>
            </a:r>
          </a:p>
        </p:txBody>
      </p:sp>
      <p:cxnSp>
        <p:nvCxnSpPr>
          <p:cNvPr id="111" name=""/>
          <p:cNvCxnSpPr>
            <a:stCxn xmlns:a="http://schemas.openxmlformats.org/drawingml/2006/main" id="46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9902190" y="46767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7693A4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54423F-A711-472E-A493-33D383E7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62600"/>
            <a:ext cx="1146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C391F8-E0E9-4C48-A535-C0087BBC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Measure consistently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across all plans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9C2B81-F39E-47FA-9034-D739DE21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Model calls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D26FC3-EC19-4710-BF68-17DCD4F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B1377-7851-4BF7-8C4D-2BFC58A1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8543E2-0E9D-4E0D-A202-ACF0A110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008DEA-EE62-429A-A9E4-15281AE9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Elapsed time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EE2960-6058-429C-9A1F-EAC606A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5C137D-D749-4241-8547-B3BB0FF4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Retries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FC7417-B892-4279-ABDD-9456CC4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8CB457-1495-4E1E-A9F2-6E9F0C23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C04539-ED7B-4628-AB17-93F2006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D41954-F221-4BED-97AB-3114B9F9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5657850"/>
            <a:ext cx="147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Recovery work</a:t>
            </a:r>
          </a:p>
        </p:txBody>
      </p:sp>
    </p:spTree>
    <p:extLst>
      <p:ext uri="{BB962C8B-B14F-4D97-AF65-F5344CB8AC3E}">
        <p14:creationId xmlns:p14="http://schemas.microsoft.com/office/powerpoint/2010/main" val="4503660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C318720D-92CE-4983-8A6F-F381510D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IMPLEMENTATION AND EVALUATION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95A4FA-FF01-4F5B-9AC2-A7C992F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Implementation and evaluation use one shared test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75BCF-1B16-4BCD-99AA-C52CCF1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3619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E498D-6BFB-4747-991C-4360F2A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0C7E7-7E2D-4AE4-AFC1-BBBCC74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Graph-specific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8CAD6-4756-4CA9-9668-24D86106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316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Typed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1F336-AEF0-4632-B412-79B692D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16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Reducers and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6E9CC-BE48-4853-B5C9-44365B1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316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Node policies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5A0F0-D5EC-4C71-A3CE-D6A61D15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3619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0324B-AB7A-434F-ABE5-FF1592B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97E74-E1E1-471F-8314-4025B49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Delegation-specific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4AEB4-0352-4892-9BD6-9AD6316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Specialist registry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9CCFE-BC26-4FFC-9ADF-59B3082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run_specialist command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D0726-B1B6-4790-B90A-DC8CB0CC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Assignment ledger and task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08681-A9C3-4C3E-B0C6-A3E48A6A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5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Child budgets and SpecialistResult envelopes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49FC9-D1A4-4F1E-BEA5-8323B1A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619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9A44D-ACF2-4B2C-8309-9FCA540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C8"/>
          </a:solidFill>
          <a:ln xmlns:a="http://schemas.openxmlformats.org/drawingml/2006/main" w="0">
            <a:solidFill>
              <a:srgbClr val="00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AEB42-F398-4F42-8D1C-3242DF19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Agent-specific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A83A8-7CBD-4F4A-B5BE-4429E23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Complete review tool 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59876-FE3E-4E86-8EF2-7B5C2B1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Context limits and middleware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E7B6A-554D-4839-A85A-0D2A104D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Structured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819C1-8736-48ED-898F-79F5B58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316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Post-loop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86FEF-F870-4076-ABB1-0B910DF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0055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A8768-198D-4EA3-8D7E-423FE43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Shared foundation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25780C-48F3-40DA-9A3D-89A9A66F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Document adapters · Immutable manifest · Deterministic analyses · Evidence reopening · Result schemas · Artifact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2E41E-AC5F-42DA-917C-4DC2D2E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91150"/>
            <a:ext cx="1146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621B4-4C44-4BB6-8456-B1CE11D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56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One controlled benchmark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23BE9-9DC3-4F69-8FA0-335AE33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C22E7-AC0E-4AF8-801D-14AF8E63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7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13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Coverage · Deterministic analysis completion · Terminal-status accuracy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8284C-784B-4375-B745-EFAD9085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293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077E2-FA63-42D7-B4B3-8CC8931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769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10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13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Citation support · Evidence validation · Output variance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B1BD9-BCBC-4EE5-A6F2-081A3354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293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45C4C-8FD1-4FDB-B9AB-4FC11C4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769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13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Resume · Retries · Failure handling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017DF-63C0-4F7C-81C1-E60D0F8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293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B0478B-BABC-4176-A897-7511649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769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7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13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Model calls · Tool calls · Tokens · Elapsed time · Concurrency</a:t>
            </a:r>
          </a:p>
        </p:txBody>
      </p:sp>
    </p:spTree>
    <p:extLst>
      <p:ext uri="{BB962C8B-B14F-4D97-AF65-F5344CB8AC3E}">
        <p14:creationId xmlns:p14="http://schemas.microsoft.com/office/powerpoint/2010/main" val="1408687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93A863E3-60F6-424B-8809-E9A80E8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RESEARCH BASIS · DISCUSSION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811AEE-DE5D-48D6-B1F0-953C160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2450"/>
            <a:ext cx="1146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Research basis and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C738B-9D39-4894-A487-1DF52F9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4000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E6A4D-1E8E-4B42-86BE-23798CE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Repository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F2AB7-C46B-4057-AFA3-2C82FC8B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76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data_agent/review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3AC7A-3F79-46B3-A7E0-6015DC4E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3476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data_agent/agent/subagents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C242F-5551-4042-87B4-F67C023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3476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data_agent/tools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11B09-44C4-4B28-BFDD-4B48645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3476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data_agent/skills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2DDD4-D023-4717-A4AF-5284564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476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skills/*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973B6-7991-4468-8BAA-559DF711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Research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341BA-6DD4-4A9B-B641-F7C5973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Locked versions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LangChain 1.3.17 · LangGraph 1.2.11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74D00-1DF0-40A6-8985-EA2F3A48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9814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BCC12-79F9-4258-B386-E5F4A789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64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Official framework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88235-1F84-453A-A6FF-6EC1DD23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Workflows and agents · Persistence · Subgraphs · StateGraph · RetryPolicy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C030F-C292-42D4-8332-4612D853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LangChain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Agents · Subagents · Structured output · Middleware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33219-5681-4689-98F5-6FF5907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693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A69DB-71AC-4265-97A1-869DAA6B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693A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CD2F3-C11B-473A-8D8B-88784EE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38750"/>
            <a:ext cx="1146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7693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6EF0B-EA6D-4004-81D7-9269ACD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Discussion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396B4-BE8A-402E-99FE-618A7C1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Audience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448D0-6F24-4C89-8BE0-CC58C56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9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How technical should the presentation be?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350E9-2142-425E-A65A-7F1F707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Comparison dimensions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C8B66-EA22-47A4-B13F-2614032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19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Which dimensions matter most?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7730C-57A5-41E5-B20F-1F2BFC8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91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Benchmark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D1267-027B-4C67-8113-D4C8F50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19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Which measurements should be added?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FB8D5-C667-4BF6-9E1C-EFA9C71F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7912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1C2C"/>
                </a:solidFill>
                <a:latin typeface="Arial"/>
                <a:ea typeface="Arial"/>
                <a:cs typeface="Arial"/>
              </a:rPr>
              <a:t>Citation placement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8B058-03FC-4530-94AE-F831D1CF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19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>
                <a:solidFill>
                  <a:srgbClr val="051C2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Inline or appendix?</a:t>
            </a:r>
          </a:p>
        </p:txBody>
      </p:sp>
    </p:spTree>
    <p:extLst>
      <p:ext uri="{BB962C8B-B14F-4D97-AF65-F5344CB8AC3E}">
        <p14:creationId xmlns:p14="http://schemas.microsoft.com/office/powerpoint/2010/main" val="57049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2026-09-22T14:11:47.2060000Z</dcterms:created>
  <dcterms:modified xsi:type="dcterms:W3CDTF">2026-09-22T14:11:47.2060000Z</dcterms:modified>
</coreProperties>
</file>